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Little Rascal</a:t>
            </a:r>
          </a:p>
          <a:p>
            <a:r>
              <a:t>Suggested time: 22 seconds</a:t>
            </a:r>
          </a:p>
          <a:p/>
          <a:p>
            <a:r>
              <a:t>ENGLISH SCRIPT</a:t>
            </a:r>
          </a:p>
          <a:p>
            <a:r>
              <a:t>Hello. Today I’m presenting Little Rascal, a browser-based virtual pet made with p5.js. The player cares for a small, star-topped character through childhood, youth and old age. My central design question is how everyday interaction can create a sense of attachment.</a:t>
            </a:r>
          </a:p>
          <a:p/>
          <a:p>
            <a:r>
              <a:t>中文对照</a:t>
            </a:r>
          </a:p>
          <a:p>
            <a:r>
              <a:t>大家好，今天我介绍的项目是 Little Rascal，一个使用 p5.js 制作的网页虚拟宠物游戏。玩家照顾一只头顶星星的小球，陪它经历幼年、青年和老年。我想探索的核心问题是：日常互动如何建立情感依恋？</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Can small acts of care create attachment?</a:t>
            </a:r>
          </a:p>
          <a:p>
            <a:r>
              <a:t>Suggested time: 38 seconds</a:t>
            </a:r>
          </a:p>
          <a:p/>
          <a:p>
            <a:r>
              <a:t>ENGLISH SCRIPT</a:t>
            </a:r>
          </a:p>
          <a:p>
            <a:r>
              <a:t>The game asks the player to notice another character’s needs, rather than simply collect points. Hunger, mood and energy create reasons to return to feeding, affection, play and rest. These actions are familiar, but their meaning changes as the pet grows. The intended emotional journey moves from curiosity and affection to responsibility, then farewell. This is a design intention; it has not yet been established through a formal audience study.</a:t>
            </a:r>
          </a:p>
          <a:p/>
          <a:p>
            <a:r>
              <a:t>中文对照</a:t>
            </a:r>
          </a:p>
          <a:p>
            <a:r>
              <a:t>游戏希望玩家留意另一个角色的需要，而不只是积累分数。饥饿、心情和能量，让喂食、抚摸、玩耍和休息都有了理由。这些行为很熟悉，但随着宠物成长，它们的意义会改变。我希望玩家从好奇和喜爱，逐步走向责任感，最终经历告别。这是我的设计目标，目前还没有通过正式的受众研究验证。</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layers of connection</a:t>
            </a:r>
          </a:p>
          <a:p>
            <a:r>
              <a:t>Suggested time: 42 seconds</a:t>
            </a:r>
          </a:p>
          <a:p/>
          <a:p>
            <a:r>
              <a:t>ENGLISH SCRIPT</a:t>
            </a:r>
          </a:p>
          <a:p>
            <a:r>
              <a:t>Norman’s three levels of emotional design provide a useful way to discuss the project. At the visceral level, the soft watercolor room and simple face invite attention. At the behavioural level, clear needs and responsive actions help the player understand what to do. At the reflective level, aging and the final letter give those earlier actions a different meaning. These are my applications of the framework, rather than evidence that every player will respond in the same way.</a:t>
            </a:r>
          </a:p>
          <a:p/>
          <a:p>
            <a:r>
              <a:t>中文对照</a:t>
            </a:r>
          </a:p>
          <a:p>
            <a:r>
              <a:t>诺曼提出的情感设计三个层次，为讨论这个项目提供了一个框架。在本能层面，柔和的水彩房间和简洁的表情吸引注意力。在行为层面，清晰的需求和及时的反馈帮助玩家理解操作。在反思层面，衰老和最后的感谢信，让之前的照顾产生新的意义。这是我对理论的应用，并不代表每一位玩家都会产生相同的情绪。</a:t>
            </a:r>
          </a:p>
          <a:p/>
          <a:p>
            <a:r>
              <a:t>PRESENTER NOTES</a:t>
            </a:r>
          </a:p>
          <a:p>
            <a:r>
              <a:t>Framework source: Norman, D. A. (2004). Emotional Design. Describe this as the designer’s interpretation, not measured audience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From a first meeting to a new beginning</a:t>
            </a:r>
          </a:p>
          <a:p>
            <a:r>
              <a:t>Suggested time: 44 seconds</a:t>
            </a:r>
          </a:p>
          <a:p/>
          <a:p>
            <a:r>
              <a:t>ENGLISH SCRIPT</a:t>
            </a:r>
          </a:p>
          <a:p>
            <a:r>
              <a:t>The experience begins with a gently moving egg. Clicking it triggers a shooting-star arrival, followed by naming and a short guide. Naming gives the player a personal entry into the relationship. The main loop combines care with visible feedback. Growth follows useful interactions and the next sleep and waking. An accepted sleep lasts at least three visible seconds after arrival at the nest, making rest easier to notice. The final farewell leads back to an egg, so the life cycle can begin again.</a:t>
            </a:r>
          </a:p>
          <a:p/>
          <a:p>
            <a:r>
              <a:t>中文对照</a:t>
            </a:r>
          </a:p>
          <a:p>
            <a:r>
              <a:t>体验从一颗轻轻晃动的蛋开始。点击后会出现流星出场动画，接着进入起名和简短说明。起名让玩家更个人化地进入这段关系。主体循环把照顾行为和可见反馈连接起来。成长需要有效互动，并在下一次睡醒后发生。一次被接受的睡觉操作，在到达巢里后至少会有三秒可见的睡眠，让休息更容易被玩家注意到。最后的告别会回到一颗新蛋，让生命循环重新开始。</a:t>
            </a:r>
          </a:p>
          <a:p/>
          <a:p>
            <a:r>
              <a:t>PRESENTER NOTES</a:t>
            </a:r>
          </a:p>
          <a:p>
            <a:r>
              <a:t>Accepted sleep has a minimum of three visible active seconds after nest arrival and also waits for energy to reach at least 80. This does not change growth qualification: two effective feeds plus two other care actions, then the next waking. Youth can still refuse an unneeded full-energy sleep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One character, three changing relationships</a:t>
            </a:r>
          </a:p>
          <a:p>
            <a:r>
              <a:t>Suggested time: 39 seconds</a:t>
            </a:r>
          </a:p>
          <a:p/>
          <a:p>
            <a:r>
              <a:t>ENGLISH SCRIPT</a:t>
            </a:r>
          </a:p>
          <a:p>
            <a:r>
              <a:t>The released game has three stages: Little One, Youth and Senior. The youngest stage introduces the care loop. Youth adds independence through refusal and boredom, making the character less predictable. The senior keeps the same recognizable stars and body language, but moves in small hopping bursts with pauses to rest. It also asks for affection through a thought bubble. Changing behaviour, as well as appearance, is what makes the stages feel different.</a:t>
            </a:r>
          </a:p>
          <a:p/>
          <a:p>
            <a:r>
              <a:t>中文对照</a:t>
            </a:r>
          </a:p>
          <a:p>
            <a:r>
              <a:t>正式版共有三个阶段：幼年、青年和老年。幼年阶段介绍基础照顾循环。青年阶段通过拒绝和厌烦表现独立性，让角色不那么可预测。老年阶段保留熟悉的星星和身体特征，但改成小幅连续跳动，并停下来休息，还会通过气泡表达想被抚摸的需要。让阶段产生差异的，不只是外形，还有行为。</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Care is a conversation, not a command</a:t>
            </a:r>
          </a:p>
          <a:p>
            <a:r>
              <a:t>Suggested time: 42 seconds</a:t>
            </a:r>
          </a:p>
          <a:p/>
          <a:p>
            <a:r>
              <a:t>ENGLISH SCRIPT</a:t>
            </a:r>
          </a:p>
          <a:p>
            <a:r>
              <a:t>Youth has a twenty-five percent baseline chance to refuse feeding, petting or play. Repeating an action, or offering something when the corresponding need is already full, can also produce an unimpressed response. The reactions have different body language: angry petting refusal can lead to a quick escape, while boredom keeps the pet still. Refused play can include kicking the ball away. The player must read the response and vary their care, instead of repeating one action indefinitely.</a:t>
            </a:r>
          </a:p>
          <a:p/>
          <a:p>
            <a:r>
              <a:t>中文对照</a:t>
            </a:r>
          </a:p>
          <a:p>
            <a:r>
              <a:t>青年阶段对喂食、抚摸和玩耍有百分之二十五的基础拒绝概率。如果连续重复同一操作，或者对应需求已经满了，也可能出现无语表情。不同反应有不同的身体语言：生气地拒绝抚摸时可能快速跳开，厌烦时则原地不动。拒绝玩球时，还可能把球踢走。玩家需要观察反应并调整照顾方式，而不是无限重复一个操作。</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Bring interaction into the room</a:t>
            </a:r>
          </a:p>
          <a:p>
            <a:r>
              <a:t>Suggested time: 38 seconds</a:t>
            </a:r>
          </a:p>
          <a:p/>
          <a:p>
            <a:r>
              <a:t>ENGLISH SCRIPT</a:t>
            </a:r>
          </a:p>
          <a:p>
            <a:r>
              <a:t>The floor toy makes play a physical action in the room. The player can pick it up and throw it, then watch it bounce and roll. The pet approaches it and kicks only when contact is reached. Other needs also have visible consequences. Low hunger produces a flattened pose, and uncleaned waste develops odor and flies. Together, motion and expression help connect an action, its consequence and the next possible response.</a:t>
            </a:r>
          </a:p>
          <a:p/>
          <a:p>
            <a:r>
              <a:t>中文对照</a:t>
            </a:r>
          </a:p>
          <a:p>
            <a:r>
              <a:t>地上的玩具把玩耍变成了房间里的实际动作。玩家可以拿起球再扔出去，观察它弹跳和滚动。宠物靠近后，只有真正碰到球才会踢球。其他需求同样有可见后果：饥饿较低时会出现饿扁的姿态，没及时清理的粑粑会发臭并出现苍蝇。动作和表情共同连接玩家行为、产生的后果，以及下一步可以作出的回应。</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A life in two minutes</a:t>
            </a:r>
          </a:p>
          <a:p>
            <a:r>
              <a:t>Suggested time: 140 seconds</a:t>
            </a:r>
          </a:p>
          <a:p/>
          <a:p>
            <a:r>
              <a:t>ENGLISH SCRIPT</a:t>
            </a:r>
          </a:p>
          <a:p>
            <a:r>
              <a:t>I’ll now show a two-minute edited walkthrough. It brings together the opening, everyday care, Youth reactions and the senior farewell. Some waiting and repeated care are shortened so the complete life cycle can be shown clearly.</a:t>
            </a:r>
          </a:p>
          <a:p/>
          <a:p>
            <a:r>
              <a:t>中文对照</a:t>
            </a:r>
          </a:p>
          <a:p>
            <a:r>
              <a:t>接下来展示一段两分钟的剪辑试玩，串联开场、日常照顾、青年反应以及老年告别。部分等待和重复照顾会缩短，方便清楚展示完整生命周期。</a:t>
            </a:r>
          </a:p>
          <a:p/>
          <a:p>
            <a:r>
              <a:t>PRESENTER NOTES</a:t>
            </a:r>
          </a:p>
          <a:p>
            <a:r>
              <a:t>This is a planned 120-second edited gameplay demonstration, not audience-testing evidence. Prepare the actual recording separately. Spoken introduction ≈20 seconds; footage ≈120 seconds. Leave enough screen time to read the envelope/letter; use cuts or clearly marked time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Let the player choose when to say goodbye</a:t>
            </a:r>
          </a:p>
          <a:p>
            <a:r>
              <a:t>Suggested time: 40 seconds</a:t>
            </a:r>
          </a:p>
          <a:p/>
          <a:p>
            <a:r>
              <a:t>ENGLISH SCRIPT</a:t>
            </a:r>
          </a:p>
          <a:p>
            <a:r>
              <a:t>Natural old age has a different ending from neglect. The senior pauses, gently softens and dissolves, then a winged soul rises into stars. An envelope appears on the cleared floor. The player chooses when to open it and when to close the thank-you letter. That pause is important to the intended emotional rhythm. Only after closing the letter does starlight gather into a new egg. Neglect deaths retain a separate result screen.</a:t>
            </a:r>
          </a:p>
          <a:p/>
          <a:p>
            <a:r>
              <a:t>中文对照</a:t>
            </a:r>
          </a:p>
          <a:p>
            <a:r>
              <a:t>自然老死和照顾不周有不同的结局。老年球球先停下来，身体轻轻瘫软并消散，然后带翅膀的灵魂上升，散成星星。清空的地面上出现信封。玩家自己决定何时打开信封，以及何时关闭感谢信。这个停顿服务于我想设计的情绪节奏。只有关闭信后，星光才会汇聚成新蛋。照顾不周导致的死亡仍然使用独立的结算界面。</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Build spatial movement with 2D tools</a:t>
            </a:r>
          </a:p>
          <a:p>
            <a:r>
              <a:t>Suggested time: 43 seconds</a:t>
            </a:r>
          </a:p>
          <a:p/>
          <a:p>
            <a:r>
              <a:t>ENGLISH SCRIPT</a:t>
            </a:r>
          </a:p>
          <a:p>
            <a:r>
              <a:t>The game uses two-dimensional programming with pseudo-three-dimensional movement. Ground position and jump height are separate; depth scaling, Y sorting and shadows create space. Focused scripts handle stages, the toy, music and other systems. Internal game coordinates remain nine hundred by six hundred and forty. CSS fits the display to the window without changing the layout, and a player-clicked button enables fullscreen where supported. The native naming input remains aligned during resizing. Music is enabled by default, but browser policy may require the first player gesture before playback.</a:t>
            </a:r>
          </a:p>
          <a:p/>
          <a:p>
            <a:r>
              <a:t>中文对照</a:t>
            </a:r>
          </a:p>
          <a:p>
            <a:r>
              <a:t>游戏使用二维编程实现伪三维运动。地面位置和跳跃高度分别计算，再通过远近缩放、按地面位置排序和阴影营造空间感。成长阶段、玩具、音乐等系统由对应脚本负责。游戏内部坐标始终保持九百乘六百四十。CSS 在不改变布局的情况下让显示大小适应窗口，玩家也可以点击按钮进入浏览器支持的全屏模式。原生起名输入框在窗口变化时仍会保持对齐。音乐默认开启，但受浏览器规则影响，可能需要玩家第一次交互后才允许播放。</a:t>
            </a:r>
          </a:p>
          <a:p/>
          <a:p>
            <a:r>
              <a:t>PRESENTER NOTES</a:t>
            </a:r>
          </a:p>
          <a:p>
            <a:r>
              <a:t>Final release ef6daa9: viewport.js and style.css scale the canvas display only; no resizeCanvas() or internal coordinate/physics changes. Aspect ratio is preserved, so cream margins may remain. Fullscreen is user-triggered on the document root and depends on browser support; this keeps the native naming form visible and aligned. Background audio retains browser-gesture unlocking. Window fit does not establish full mobile/accessibility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Make each reaction feel intentional</a:t>
            </a:r>
          </a:p>
          <a:p>
            <a:r>
              <a:t>Suggested time: 42 seconds</a:t>
            </a:r>
          </a:p>
          <a:p/>
          <a:p>
            <a:r>
              <a:t>ENGLISH SCRIPT</a:t>
            </a:r>
          </a:p>
          <a:p>
            <a:r>
              <a:t>Development involved repeated designer-led revisions: improving contact-timed kicks, giving seniors short hops and rest periods, and simplifying the life cycle to three stages. The final visual pass unifies the watercolor room and interface, with window fitting and fullscreen. Browser checks verify interactions, growth and the ending, but do not establish emotional effectiveness. The next step is to observe actual players. Saved progress is not implemented, and accessibility and longer play-session balancing remain future work.</a:t>
            </a:r>
          </a:p>
          <a:p/>
          <a:p>
            <a:r>
              <a:t>中文对照</a:t>
            </a:r>
          </a:p>
          <a:p>
            <a:r>
              <a:t>开发过程中进行了多次由设计者主导的调整：优化接触后踢球的反馈，让老年宠物有短跳和真正的休息，并把生命周期简化成三个阶段。最后的视觉调整统一了水彩房间和界面，并加入窗口适配与全屏。浏览器检查帮助验证互动、成长和结尾流程，但不能证明情感效果。下一步应该观察真实玩家。目前尚未实现进度保存，可访问性和更长试玩过程中的平衡，也仍需要后续完善。</a:t>
            </a:r>
          </a:p>
          <a:p/>
          <a:p>
            <a:r>
              <a:t>PRESENTER NOTES</a:t>
            </a:r>
          </a:p>
          <a:p>
            <a:r>
              <a:t>Distinguish implemented iteration from future work. The current internal canvas is fixed at 900 × 640 but its CSS display now fits the window; do not call the released game non-responsive solely because coordinates are fixed. No audience study, participant counts or emotional-effectiveness metrics are claimed. Saved progress, further accessibility and longer balancing are proposals, not implemented features.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A relationship built from small interactions</a:t>
            </a:r>
          </a:p>
          <a:p>
            <a:r>
              <a:t>Suggested time: 24 seconds</a:t>
            </a:r>
          </a:p>
          <a:p/>
          <a:p>
            <a:r>
              <a:t>ENGLISH SCRIPT</a:t>
            </a:r>
          </a:p>
          <a:p>
            <a:r>
              <a:t>Little Rascal brings everyday care, changing personality and a complete life cycle into one small room. Its main contribution is the connection between behaviour and emotional meaning. The next challenge is to test that intention with real players. Thank you for watching.</a:t>
            </a:r>
          </a:p>
          <a:p/>
          <a:p>
            <a:r>
              <a:t>中文对照</a:t>
            </a:r>
          </a:p>
          <a:p>
            <a:r>
              <a:t>Little Rascal 把日常照顾、变化的性格和完整生命周期，放进了一个小小的房间。这个项目的重点，是连接行为与情感意义。下一步的挑战是通过真实玩家验证这个设计目标。谢谢观看。</a:t>
            </a:r>
          </a:p>
          <a:p/>
          <a:p>
            <a:r>
              <a:t>PRESENTER NOTES</a:t>
            </a:r>
          </a:p>
          <a:p>
            <a:r>
              <a:t>Playable game: https://itsangelia.github.io/little-rascal/?v=ef6daa9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References and production credits</a:t>
            </a:r>
          </a:p>
          <a:p>
            <a:r>
              <a:t>Suggested time: 0 seconds</a:t>
            </a:r>
          </a:p>
          <a:p/>
          <a:p>
            <a:r>
              <a:t>ENGLISH SCRIPT</a:t>
            </a:r>
          </a:p>
          <a:p>
            <a:r>
              <a:t>This appendix records the design framework, technical library and production references. Before submission, confirm the original source and licence for the background music and add the specific reference-game citation required by your course.</a:t>
            </a:r>
          </a:p>
          <a:p/>
          <a:p>
            <a:r>
              <a:t>中文对照</a:t>
            </a:r>
          </a:p>
          <a:p>
            <a:r>
              <a:t>附录记录设计框架、技术库和制作参考。提交前，请确认背景音乐原始来源和使用许可，并按课程要求补全参考游戏的具体引用。</a:t>
            </a:r>
          </a:p>
          <a:p/>
          <a:p>
            <a:r>
              <a:t>PRESENTER NOTES</a:t>
            </a:r>
          </a:p>
          <a:p>
            <a:r>
              <a:t>Credits must distinguish uploaded original illustrations from generated design explorations. Do not claim all assets are exclusively hand-drawn by the student. Confirm instructor requirements for AI disclosure. No formal audience study or participant metrics are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itsangelia.github.io/little-rascal/?v=ef6daa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hyperlink" Target="https://itsangelia.github.io/little-rascal/?v=ef6daa9"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cxnSp>
        <p:nvCxnSpPr>
          <p:cNvPr id="2" name="Connector 1"/>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3" name="5-Point Star 2"/>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5" name="TextBox 4"/>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01</a:t>
            </a:r>
          </a:p>
        </p:txBody>
      </p:sp>
      <p:sp>
        <p:nvSpPr>
          <p:cNvPr id="6" name="Rectangle 5"/>
          <p:cNvSpPr/>
          <p:nvPr/>
        </p:nvSpPr>
        <p:spPr>
          <a:xfrm>
            <a:off x="5212080" y="0"/>
            <a:ext cx="6986016" cy="6428232"/>
          </a:xfrm>
          <a:prstGeom prst="rect">
            <a:avLst/>
          </a:prstGeom>
          <a:solidFill>
            <a:srgbClr val="F0F3E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Picture 6" descr="room-watercolor.png"/>
          <p:cNvPicPr>
            <a:picLocks noChangeAspect="1"/>
          </p:cNvPicPr>
          <p:nvPr/>
        </p:nvPicPr>
        <p:blipFill>
          <a:blip r:embed="rId2"/>
          <a:stretch>
            <a:fillRect/>
          </a:stretch>
        </p:blipFill>
        <p:spPr>
          <a:xfrm>
            <a:off x="5212080" y="598932"/>
            <a:ext cx="6986016" cy="5239512"/>
          </a:xfrm>
          <a:prstGeom prst="rect">
            <a:avLst/>
          </a:prstGeom>
        </p:spPr>
      </p:pic>
      <p:pic>
        <p:nvPicPr>
          <p:cNvPr id="8" name="Picture 7" descr="child-happy.png"/>
          <p:cNvPicPr>
            <a:picLocks noChangeAspect="1"/>
          </p:cNvPicPr>
          <p:nvPr/>
        </p:nvPicPr>
        <p:blipFill>
          <a:blip r:embed="rId3"/>
          <a:stretch>
            <a:fillRect/>
          </a:stretch>
        </p:blipFill>
        <p:spPr>
          <a:xfrm>
            <a:off x="8001000" y="3341357"/>
            <a:ext cx="1572768" cy="1473733"/>
          </a:xfrm>
          <a:prstGeom prst="rect">
            <a:avLst/>
          </a:prstGeom>
        </p:spPr>
      </p:pic>
      <p:sp>
        <p:nvSpPr>
          <p:cNvPr id="9" name="TextBox 8"/>
          <p:cNvSpPr txBox="1"/>
          <p:nvPr/>
        </p:nvSpPr>
        <p:spPr>
          <a:xfrm>
            <a:off x="658368" y="621792"/>
            <a:ext cx="4572000" cy="411480"/>
          </a:xfrm>
          <a:prstGeom prst="rect">
            <a:avLst/>
          </a:prstGeom>
          <a:noFill/>
        </p:spPr>
        <p:txBody>
          <a:bodyPr wrap="square" lIns="9144" rIns="9144" tIns="0" bIns="0">
            <a:spAutoFit/>
          </a:bodyPr>
          <a:lstStyle/>
          <a:p>
            <a:pPr>
              <a:spcAft>
                <a:spcPts val="700"/>
              </a:spcAft>
              <a:defRPr sz="1100" b="1">
                <a:solidFill>
                  <a:srgbClr val="728367"/>
                </a:solidFill>
                <a:latin typeface="Arial"/>
              </a:defRPr>
            </a:pPr>
            <a:r>
              <a:t>GRDE2040  /  EMOTIONAL INTERACTIONS</a:t>
            </a:r>
          </a:p>
        </p:txBody>
      </p:sp>
      <p:sp>
        <p:nvSpPr>
          <p:cNvPr id="10" name="5-Point Star 9"/>
          <p:cNvSpPr/>
          <p:nvPr/>
        </p:nvSpPr>
        <p:spPr>
          <a:xfrm>
            <a:off x="685800" y="1463040"/>
            <a:ext cx="338328" cy="3383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40080" y="1920240"/>
            <a:ext cx="4663440" cy="1828800"/>
          </a:xfrm>
          <a:prstGeom prst="rect">
            <a:avLst/>
          </a:prstGeom>
          <a:noFill/>
        </p:spPr>
        <p:txBody>
          <a:bodyPr wrap="square" lIns="9144" rIns="9144" tIns="0" bIns="0">
            <a:spAutoFit/>
          </a:bodyPr>
          <a:lstStyle/>
          <a:p>
            <a:pPr>
              <a:spcAft>
                <a:spcPts val="700"/>
              </a:spcAft>
              <a:defRPr sz="5800" b="0">
                <a:solidFill>
                  <a:srgbClr val="504637"/>
                </a:solidFill>
                <a:latin typeface="Georgia"/>
              </a:defRPr>
            </a:pPr>
            <a:r>
              <a:t>Little</a:t>
            </a:r>
          </a:p>
          <a:p>
            <a:pPr>
              <a:spcAft>
                <a:spcPts val="700"/>
              </a:spcAft>
              <a:defRPr sz="5800" b="0">
                <a:solidFill>
                  <a:srgbClr val="504637"/>
                </a:solidFill>
                <a:latin typeface="Georgia"/>
              </a:defRPr>
            </a:pPr>
            <a:r>
              <a:t>Rascal</a:t>
            </a:r>
          </a:p>
        </p:txBody>
      </p:sp>
      <p:sp>
        <p:nvSpPr>
          <p:cNvPr id="12" name="TextBox 11"/>
          <p:cNvSpPr txBox="1"/>
          <p:nvPr/>
        </p:nvSpPr>
        <p:spPr>
          <a:xfrm>
            <a:off x="685800" y="4142232"/>
            <a:ext cx="4389120" cy="640080"/>
          </a:xfrm>
          <a:prstGeom prst="rect">
            <a:avLst/>
          </a:prstGeom>
          <a:noFill/>
        </p:spPr>
        <p:txBody>
          <a:bodyPr wrap="square" lIns="9144" rIns="9144" tIns="0" bIns="0">
            <a:spAutoFit/>
          </a:bodyPr>
          <a:lstStyle/>
          <a:p>
            <a:pPr>
              <a:spcAft>
                <a:spcPts val="700"/>
              </a:spcAft>
              <a:defRPr sz="2300" b="0">
                <a:solidFill>
                  <a:srgbClr val="728367"/>
                </a:solidFill>
                <a:latin typeface="Arial"/>
              </a:defRPr>
            </a:pPr>
            <a:r>
              <a:t>A little life, shaped by care.</a:t>
            </a:r>
          </a:p>
        </p:txBody>
      </p:sp>
      <p:sp>
        <p:nvSpPr>
          <p:cNvPr id="13" name="TextBox 12"/>
          <p:cNvSpPr txBox="1"/>
          <p:nvPr/>
        </p:nvSpPr>
        <p:spPr>
          <a:xfrm>
            <a:off x="685800" y="5120640"/>
            <a:ext cx="4023360" cy="777240"/>
          </a:xfrm>
          <a:prstGeom prst="rect">
            <a:avLst/>
          </a:prstGeom>
          <a:noFill/>
        </p:spPr>
        <p:txBody>
          <a:bodyPr wrap="square" lIns="9144" rIns="9144" tIns="0" bIns="0">
            <a:spAutoFit/>
          </a:bodyPr>
          <a:lstStyle/>
          <a:p>
            <a:pPr>
              <a:spcAft>
                <a:spcPts val="700"/>
              </a:spcAft>
              <a:defRPr sz="1700" b="0">
                <a:solidFill>
                  <a:srgbClr val="817967"/>
                </a:solidFill>
                <a:latin typeface="Arial"/>
              </a:defRPr>
            </a:pPr>
            <a:r>
              <a:t>A playable virtual pet experience</a:t>
            </a:r>
          </a:p>
          <a:p>
            <a:pPr>
              <a:spcAft>
                <a:spcPts val="700"/>
              </a:spcAft>
              <a:defRPr sz="1700" b="0">
                <a:solidFill>
                  <a:srgbClr val="817967"/>
                </a:solidFill>
                <a:latin typeface="Arial"/>
              </a:defRPr>
            </a:pPr>
            <a:r>
              <a:t>built with p5.js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DESIGN INTENTION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Can small acts of care create attachment?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02</a:t>
            </a:r>
          </a:p>
        </p:txBody>
      </p:sp>
      <p:sp>
        <p:nvSpPr>
          <p:cNvPr id="8" name="TextBox 7"/>
          <p:cNvSpPr txBox="1"/>
          <p:nvPr/>
        </p:nvSpPr>
        <p:spPr>
          <a:xfrm>
            <a:off x="676656" y="1883664"/>
            <a:ext cx="5669280" cy="1508760"/>
          </a:xfrm>
          <a:prstGeom prst="rect">
            <a:avLst/>
          </a:prstGeom>
          <a:noFill/>
        </p:spPr>
        <p:txBody>
          <a:bodyPr wrap="square" lIns="9144" rIns="9144" tIns="0" bIns="0">
            <a:spAutoFit/>
          </a:bodyPr>
          <a:lstStyle/>
          <a:p>
            <a:pPr>
              <a:spcAft>
                <a:spcPts val="700"/>
              </a:spcAft>
              <a:defRPr sz="2900" b="0">
                <a:solidFill>
                  <a:srgbClr val="504637"/>
                </a:solidFill>
                <a:latin typeface="Georgia"/>
              </a:defRPr>
            </a:pPr>
            <a:r>
              <a:t>How can caring for a simple pet</a:t>
            </a:r>
          </a:p>
          <a:p>
            <a:pPr>
              <a:spcAft>
                <a:spcPts val="700"/>
              </a:spcAft>
              <a:defRPr sz="2900" b="0">
                <a:solidFill>
                  <a:srgbClr val="504637"/>
                </a:solidFill>
                <a:latin typeface="Georgia"/>
              </a:defRPr>
            </a:pPr>
            <a:r>
              <a:t>create a meaningful connection?</a:t>
            </a:r>
          </a:p>
        </p:txBody>
      </p:sp>
      <p:sp>
        <p:nvSpPr>
          <p:cNvPr id="9" name="TextBox 8"/>
          <p:cNvSpPr txBox="1"/>
          <p:nvPr/>
        </p:nvSpPr>
        <p:spPr>
          <a:xfrm>
            <a:off x="694944" y="3657600"/>
            <a:ext cx="5349240" cy="502920"/>
          </a:xfrm>
          <a:prstGeom prst="rect">
            <a:avLst/>
          </a:prstGeom>
          <a:noFill/>
        </p:spPr>
        <p:txBody>
          <a:bodyPr wrap="square" lIns="9144" rIns="9144" tIns="0" bIns="0">
            <a:spAutoFit/>
          </a:bodyPr>
          <a:lstStyle/>
          <a:p>
            <a:pPr>
              <a:spcAft>
                <a:spcPts val="700"/>
              </a:spcAft>
              <a:defRPr sz="2300" b="1">
                <a:solidFill>
                  <a:srgbClr val="728367"/>
                </a:solidFill>
                <a:latin typeface="Arial"/>
              </a:defRPr>
            </a:pPr>
            <a:r>
              <a:t>Care → response → attachment</a:t>
            </a:r>
          </a:p>
        </p:txBody>
      </p:sp>
      <p:sp>
        <p:nvSpPr>
          <p:cNvPr id="10" name="TextBox 9"/>
          <p:cNvSpPr txBox="1"/>
          <p:nvPr/>
        </p:nvSpPr>
        <p:spPr>
          <a:xfrm>
            <a:off x="704088" y="4517136"/>
            <a:ext cx="5120640" cy="822960"/>
          </a:xfrm>
          <a:prstGeom prst="rect">
            <a:avLst/>
          </a:prstGeom>
          <a:noFill/>
        </p:spPr>
        <p:txBody>
          <a:bodyPr wrap="square" lIns="9144" rIns="9144" tIns="0" bIns="0">
            <a:spAutoFit/>
          </a:bodyPr>
          <a:lstStyle/>
          <a:p>
            <a:pPr>
              <a:spcAft>
                <a:spcPts val="700"/>
              </a:spcAft>
              <a:defRPr sz="1800" b="0">
                <a:solidFill>
                  <a:srgbClr val="817967"/>
                </a:solidFill>
                <a:latin typeface="Arial"/>
              </a:defRPr>
            </a:pPr>
            <a:r>
              <a:t>A short browser experience for a desktop</a:t>
            </a:r>
          </a:p>
          <a:p>
            <a:pPr>
              <a:spcAft>
                <a:spcPts val="700"/>
              </a:spcAft>
              <a:defRPr sz="1800" b="0">
                <a:solidFill>
                  <a:srgbClr val="817967"/>
                </a:solidFill>
                <a:latin typeface="Arial"/>
              </a:defRPr>
            </a:pPr>
            <a:r>
              <a:t>or exhibition setting.</a:t>
            </a:r>
          </a:p>
        </p:txBody>
      </p:sp>
      <p:sp>
        <p:nvSpPr>
          <p:cNvPr id="11" name="Rounded Rectangle 10"/>
          <p:cNvSpPr/>
          <p:nvPr/>
        </p:nvSpPr>
        <p:spPr>
          <a:xfrm>
            <a:off x="6995160" y="1828800"/>
            <a:ext cx="4480560" cy="4069080"/>
          </a:xfrm>
          <a:prstGeom prst="roundRect">
            <a:avLst>
              <a:gd name="adj" fmla="val 15000"/>
            </a:avLst>
          </a:prstGeom>
          <a:solidFill>
            <a:srgbClr val="F3EEDB"/>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child-happy.png"/>
          <p:cNvPicPr>
            <a:picLocks noChangeAspect="1"/>
          </p:cNvPicPr>
          <p:nvPr/>
        </p:nvPicPr>
        <p:blipFill>
          <a:blip r:embed="rId2"/>
          <a:stretch>
            <a:fillRect/>
          </a:stretch>
        </p:blipFill>
        <p:spPr>
          <a:xfrm>
            <a:off x="7918704" y="2275169"/>
            <a:ext cx="2560320" cy="2399100"/>
          </a:xfrm>
          <a:prstGeom prst="rect">
            <a:avLst/>
          </a:prstGeom>
        </p:spPr>
      </p:pic>
      <p:sp>
        <p:nvSpPr>
          <p:cNvPr id="13" name="TextBox 12"/>
          <p:cNvSpPr txBox="1"/>
          <p:nvPr/>
        </p:nvSpPr>
        <p:spPr>
          <a:xfrm>
            <a:off x="7223760" y="5093208"/>
            <a:ext cx="4023360" cy="548640"/>
          </a:xfrm>
          <a:prstGeom prst="rect">
            <a:avLst/>
          </a:prstGeom>
          <a:noFill/>
        </p:spPr>
        <p:txBody>
          <a:bodyPr wrap="square" lIns="9144" rIns="9144" tIns="0" bIns="0">
            <a:spAutoFit/>
          </a:bodyPr>
          <a:lstStyle/>
          <a:p>
            <a:pPr algn="ctr">
              <a:spcAft>
                <a:spcPts val="700"/>
              </a:spcAft>
              <a:defRPr sz="1800" b="0">
                <a:solidFill>
                  <a:srgbClr val="504637"/>
                </a:solidFill>
                <a:latin typeface="Arial"/>
              </a:defRPr>
            </a:pPr>
            <a:r>
              <a:t>A companion with changing needs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EMOTIONAL DESIGN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Three layers of connection</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03</a:t>
            </a:r>
          </a:p>
        </p:txBody>
      </p:sp>
      <p:sp>
        <p:nvSpPr>
          <p:cNvPr id="8" name="Rounded Rectangle 7"/>
          <p:cNvSpPr/>
          <p:nvPr/>
        </p:nvSpPr>
        <p:spPr>
          <a:xfrm>
            <a:off x="640080"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41247"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01</a:t>
            </a:r>
          </a:p>
        </p:txBody>
      </p:sp>
      <p:sp>
        <p:nvSpPr>
          <p:cNvPr id="10" name="TextBox 9"/>
          <p:cNvSpPr txBox="1"/>
          <p:nvPr/>
        </p:nvSpPr>
        <p:spPr>
          <a:xfrm>
            <a:off x="841247"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VISCERAL</a:t>
            </a:r>
          </a:p>
        </p:txBody>
      </p:sp>
      <p:sp>
        <p:nvSpPr>
          <p:cNvPr id="11" name="TextBox 10"/>
          <p:cNvSpPr txBox="1"/>
          <p:nvPr/>
        </p:nvSpPr>
        <p:spPr>
          <a:xfrm>
            <a:off x="841247"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“I want to meet it.”</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Soft colour, a cute silhouette</a:t>
            </a:r>
          </a:p>
          <a:p>
            <a:pPr>
              <a:spcAft>
                <a:spcPts val="700"/>
              </a:spcAft>
              <a:defRPr sz="1700" b="0">
                <a:solidFill>
                  <a:srgbClr val="504637"/>
                </a:solidFill>
                <a:latin typeface="Arial"/>
              </a:defRPr>
            </a:pPr>
            <a:r>
              <a:t>and gentle sound.</a:t>
            </a:r>
          </a:p>
        </p:txBody>
      </p:sp>
      <p:sp>
        <p:nvSpPr>
          <p:cNvPr id="12" name="Rounded Rectangle 11"/>
          <p:cNvSpPr/>
          <p:nvPr/>
        </p:nvSpPr>
        <p:spPr>
          <a:xfrm>
            <a:off x="4361688"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62856"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02</a:t>
            </a:r>
          </a:p>
        </p:txBody>
      </p:sp>
      <p:sp>
        <p:nvSpPr>
          <p:cNvPr id="14" name="TextBox 13"/>
          <p:cNvSpPr txBox="1"/>
          <p:nvPr/>
        </p:nvSpPr>
        <p:spPr>
          <a:xfrm>
            <a:off x="4562856"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BEHAVIOURAL</a:t>
            </a:r>
          </a:p>
        </p:txBody>
      </p:sp>
      <p:sp>
        <p:nvSpPr>
          <p:cNvPr id="15" name="TextBox 14"/>
          <p:cNvSpPr txBox="1"/>
          <p:nvPr/>
        </p:nvSpPr>
        <p:spPr>
          <a:xfrm>
            <a:off x="4562856"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“My actions matter.”</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Clear care tools, physical play</a:t>
            </a:r>
          </a:p>
          <a:p>
            <a:pPr>
              <a:spcAft>
                <a:spcPts val="700"/>
              </a:spcAft>
              <a:defRPr sz="1700" b="0">
                <a:solidFill>
                  <a:srgbClr val="504637"/>
                </a:solidFill>
                <a:latin typeface="Arial"/>
              </a:defRPr>
            </a:pPr>
            <a:r>
              <a:t>and readable responses.</a:t>
            </a:r>
          </a:p>
        </p:txBody>
      </p:sp>
      <p:sp>
        <p:nvSpPr>
          <p:cNvPr id="16" name="Rounded Rectangle 15"/>
          <p:cNvSpPr/>
          <p:nvPr/>
        </p:nvSpPr>
        <p:spPr>
          <a:xfrm>
            <a:off x="8083296"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84464"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03</a:t>
            </a:r>
          </a:p>
        </p:txBody>
      </p:sp>
      <p:sp>
        <p:nvSpPr>
          <p:cNvPr id="18" name="TextBox 17"/>
          <p:cNvSpPr txBox="1"/>
          <p:nvPr/>
        </p:nvSpPr>
        <p:spPr>
          <a:xfrm>
            <a:off x="8284464"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REFLECTIVE</a:t>
            </a:r>
          </a:p>
        </p:txBody>
      </p:sp>
      <p:sp>
        <p:nvSpPr>
          <p:cNvPr id="19" name="TextBox 18"/>
          <p:cNvSpPr txBox="1"/>
          <p:nvPr/>
        </p:nvSpPr>
        <p:spPr>
          <a:xfrm>
            <a:off x="8284464"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“I cared for this little life.”</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Naming, changing needs</a:t>
            </a:r>
          </a:p>
          <a:p>
            <a:pPr>
              <a:spcAft>
                <a:spcPts val="700"/>
              </a:spcAft>
              <a:defRPr sz="1700" b="0">
                <a:solidFill>
                  <a:srgbClr val="504637"/>
                </a:solidFill>
                <a:latin typeface="Arial"/>
              </a:defRPr>
            </a:pPr>
            <a:r>
              <a:t>and a meaningful goodbye.</a:t>
            </a:r>
          </a:p>
        </p:txBody>
      </p:sp>
      <p:sp>
        <p:nvSpPr>
          <p:cNvPr id="20" name="TextBox 19"/>
          <p:cNvSpPr txBox="1"/>
          <p:nvPr/>
        </p:nvSpPr>
        <p:spPr>
          <a:xfrm>
            <a:off x="694944" y="5879592"/>
            <a:ext cx="10058400" cy="274320"/>
          </a:xfrm>
          <a:prstGeom prst="rect">
            <a:avLst/>
          </a:prstGeom>
          <a:noFill/>
        </p:spPr>
        <p:txBody>
          <a:bodyPr wrap="square" lIns="9144" rIns="9144" tIns="0" bIns="0">
            <a:spAutoFit/>
          </a:bodyPr>
          <a:lstStyle/>
          <a:p>
            <a:pPr>
              <a:spcAft>
                <a:spcPts val="700"/>
              </a:spcAft>
              <a:defRPr sz="1200" b="0">
                <a:solidFill>
                  <a:srgbClr val="817967"/>
                </a:solidFill>
                <a:latin typeface="Arial"/>
              </a:defRPr>
            </a:pPr>
            <a:r>
              <a:t>Design framework: Norman’s three levels of emotional design (2004).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EXPERIENCE FLOW</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From a first meeting to a new beginning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04</a:t>
            </a:r>
          </a:p>
        </p:txBody>
      </p:sp>
      <p:sp>
        <p:nvSpPr>
          <p:cNvPr id="8" name="Rounded Rectangle 7"/>
          <p:cNvSpPr/>
          <p:nvPr/>
        </p:nvSpPr>
        <p:spPr>
          <a:xfrm>
            <a:off x="612647"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1-egg.png"/>
          <p:cNvPicPr>
            <a:picLocks noChangeAspect="1"/>
          </p:cNvPicPr>
          <p:nvPr/>
        </p:nvPicPr>
        <p:blipFill>
          <a:blip r:embed="rId2"/>
          <a:stretch>
            <a:fillRect/>
          </a:stretch>
        </p:blipFill>
        <p:spPr>
          <a:xfrm>
            <a:off x="640080" y="1965960"/>
            <a:ext cx="2542031" cy="1807667"/>
          </a:xfrm>
          <a:prstGeom prst="rect">
            <a:avLst/>
          </a:prstGeom>
        </p:spPr>
      </p:pic>
      <p:sp>
        <p:nvSpPr>
          <p:cNvPr id="10" name="TextBox 9"/>
          <p:cNvSpPr txBox="1"/>
          <p:nvPr/>
        </p:nvSpPr>
        <p:spPr>
          <a:xfrm>
            <a:off x="640080"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01</a:t>
            </a:r>
          </a:p>
        </p:txBody>
      </p:sp>
      <p:sp>
        <p:nvSpPr>
          <p:cNvPr id="11" name="TextBox 10"/>
          <p:cNvSpPr txBox="1"/>
          <p:nvPr/>
        </p:nvSpPr>
        <p:spPr>
          <a:xfrm>
            <a:off x="640080"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Meet &amp; name</a:t>
            </a:r>
          </a:p>
        </p:txBody>
      </p:sp>
      <p:sp>
        <p:nvSpPr>
          <p:cNvPr id="12" name="TextBox 11"/>
          <p:cNvSpPr txBox="1"/>
          <p:nvPr/>
        </p:nvSpPr>
        <p:spPr>
          <a:xfrm>
            <a:off x="640080"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Click the egg.</a:t>
            </a:r>
          </a:p>
          <a:p>
            <a:pPr>
              <a:spcAft>
                <a:spcPts val="700"/>
              </a:spcAft>
              <a:defRPr sz="1600" b="0">
                <a:solidFill>
                  <a:srgbClr val="817967"/>
                </a:solidFill>
                <a:latin typeface="Arial"/>
              </a:defRPr>
            </a:pPr>
            <a:r>
              <a:t>Give a name.</a:t>
            </a:r>
          </a:p>
        </p:txBody>
      </p:sp>
      <p:sp>
        <p:nvSpPr>
          <p:cNvPr id="13" name="TextBox 12"/>
          <p:cNvSpPr txBox="1"/>
          <p:nvPr/>
        </p:nvSpPr>
        <p:spPr>
          <a:xfrm>
            <a:off x="3209544"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14" name="Rounded Rectangle 13"/>
          <p:cNvSpPr/>
          <p:nvPr/>
        </p:nvSpPr>
        <p:spPr>
          <a:xfrm>
            <a:off x="3429000"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03-child-room.png"/>
          <p:cNvPicPr>
            <a:picLocks noChangeAspect="1"/>
          </p:cNvPicPr>
          <p:nvPr/>
        </p:nvPicPr>
        <p:blipFill>
          <a:blip r:embed="rId3"/>
          <a:stretch>
            <a:fillRect/>
          </a:stretch>
        </p:blipFill>
        <p:spPr>
          <a:xfrm>
            <a:off x="3456432" y="1965960"/>
            <a:ext cx="2542031" cy="1807667"/>
          </a:xfrm>
          <a:prstGeom prst="rect">
            <a:avLst/>
          </a:prstGeom>
        </p:spPr>
      </p:pic>
      <p:sp>
        <p:nvSpPr>
          <p:cNvPr id="16" name="TextBox 15"/>
          <p:cNvSpPr txBox="1"/>
          <p:nvPr/>
        </p:nvSpPr>
        <p:spPr>
          <a:xfrm>
            <a:off x="3456432"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02</a:t>
            </a:r>
          </a:p>
        </p:txBody>
      </p:sp>
      <p:sp>
        <p:nvSpPr>
          <p:cNvPr id="17" name="TextBox 16"/>
          <p:cNvSpPr txBox="1"/>
          <p:nvPr/>
        </p:nvSpPr>
        <p:spPr>
          <a:xfrm>
            <a:off x="3456432"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Care &amp; respond</a:t>
            </a:r>
          </a:p>
        </p:txBody>
      </p:sp>
      <p:sp>
        <p:nvSpPr>
          <p:cNvPr id="18" name="TextBox 17"/>
          <p:cNvSpPr txBox="1"/>
          <p:nvPr/>
        </p:nvSpPr>
        <p:spPr>
          <a:xfrm>
            <a:off x="3456432"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Read needs.</a:t>
            </a:r>
          </a:p>
          <a:p>
            <a:pPr>
              <a:spcAft>
                <a:spcPts val="700"/>
              </a:spcAft>
              <a:defRPr sz="1600" b="0">
                <a:solidFill>
                  <a:srgbClr val="817967"/>
                </a:solidFill>
                <a:latin typeface="Arial"/>
              </a:defRPr>
            </a:pPr>
            <a:r>
              <a:t>Choose how to care.</a:t>
            </a:r>
          </a:p>
        </p:txBody>
      </p:sp>
      <p:sp>
        <p:nvSpPr>
          <p:cNvPr id="19" name="TextBox 18"/>
          <p:cNvSpPr txBox="1"/>
          <p:nvPr/>
        </p:nvSpPr>
        <p:spPr>
          <a:xfrm>
            <a:off x="6025896"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20" name="Rounded Rectangle 19"/>
          <p:cNvSpPr/>
          <p:nvPr/>
        </p:nvSpPr>
        <p:spPr>
          <a:xfrm>
            <a:off x="6245352"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07-senior-affection.png"/>
          <p:cNvPicPr>
            <a:picLocks noChangeAspect="1"/>
          </p:cNvPicPr>
          <p:nvPr/>
        </p:nvPicPr>
        <p:blipFill>
          <a:blip r:embed="rId4"/>
          <a:stretch>
            <a:fillRect/>
          </a:stretch>
        </p:blipFill>
        <p:spPr>
          <a:xfrm>
            <a:off x="6272784" y="1965960"/>
            <a:ext cx="2542031" cy="1807667"/>
          </a:xfrm>
          <a:prstGeom prst="rect">
            <a:avLst/>
          </a:prstGeom>
        </p:spPr>
      </p:pic>
      <p:sp>
        <p:nvSpPr>
          <p:cNvPr id="22" name="TextBox 21"/>
          <p:cNvSpPr txBox="1"/>
          <p:nvPr/>
        </p:nvSpPr>
        <p:spPr>
          <a:xfrm>
            <a:off x="6272784"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03</a:t>
            </a:r>
          </a:p>
        </p:txBody>
      </p:sp>
      <p:sp>
        <p:nvSpPr>
          <p:cNvPr id="23" name="TextBox 22"/>
          <p:cNvSpPr txBox="1"/>
          <p:nvPr/>
        </p:nvSpPr>
        <p:spPr>
          <a:xfrm>
            <a:off x="6272784"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Grow &amp; change</a:t>
            </a:r>
          </a:p>
        </p:txBody>
      </p:sp>
      <p:sp>
        <p:nvSpPr>
          <p:cNvPr id="24" name="TextBox 23"/>
          <p:cNvSpPr txBox="1"/>
          <p:nvPr/>
        </p:nvSpPr>
        <p:spPr>
          <a:xfrm>
            <a:off x="6272784"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Care, then sleep.</a:t>
            </a:r>
          </a:p>
          <a:p>
            <a:pPr>
              <a:spcAft>
                <a:spcPts val="700"/>
              </a:spcAft>
              <a:defRPr sz="1600" b="0">
                <a:solidFill>
                  <a:srgbClr val="817967"/>
                </a:solidFill>
                <a:latin typeface="Arial"/>
              </a:defRPr>
            </a:pPr>
            <a:r>
              <a:t>Wake into the next stage.</a:t>
            </a:r>
          </a:p>
        </p:txBody>
      </p:sp>
      <p:sp>
        <p:nvSpPr>
          <p:cNvPr id="25" name="TextBox 24"/>
          <p:cNvSpPr txBox="1"/>
          <p:nvPr/>
        </p:nvSpPr>
        <p:spPr>
          <a:xfrm>
            <a:off x="8842248"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26" name="Rounded Rectangle 25"/>
          <p:cNvSpPr/>
          <p:nvPr/>
        </p:nvSpPr>
        <p:spPr>
          <a:xfrm>
            <a:off x="9061704"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7" name="Picture 26" descr="14-new-beginning.png"/>
          <p:cNvPicPr>
            <a:picLocks noChangeAspect="1"/>
          </p:cNvPicPr>
          <p:nvPr/>
        </p:nvPicPr>
        <p:blipFill>
          <a:blip r:embed="rId5"/>
          <a:stretch>
            <a:fillRect/>
          </a:stretch>
        </p:blipFill>
        <p:spPr>
          <a:xfrm>
            <a:off x="9089136" y="1965960"/>
            <a:ext cx="2542031" cy="1807667"/>
          </a:xfrm>
          <a:prstGeom prst="rect">
            <a:avLst/>
          </a:prstGeom>
        </p:spPr>
      </p:pic>
      <p:sp>
        <p:nvSpPr>
          <p:cNvPr id="28" name="TextBox 27"/>
          <p:cNvSpPr txBox="1"/>
          <p:nvPr/>
        </p:nvSpPr>
        <p:spPr>
          <a:xfrm>
            <a:off x="9089136"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04</a:t>
            </a:r>
          </a:p>
        </p:txBody>
      </p:sp>
      <p:sp>
        <p:nvSpPr>
          <p:cNvPr id="29" name="TextBox 28"/>
          <p:cNvSpPr txBox="1"/>
          <p:nvPr/>
        </p:nvSpPr>
        <p:spPr>
          <a:xfrm>
            <a:off x="9089136"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Farewell &amp; renew</a:t>
            </a:r>
          </a:p>
        </p:txBody>
      </p:sp>
      <p:sp>
        <p:nvSpPr>
          <p:cNvPr id="30" name="TextBox 29"/>
          <p:cNvSpPr txBox="1"/>
          <p:nvPr/>
        </p:nvSpPr>
        <p:spPr>
          <a:xfrm>
            <a:off x="9089136"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Open the letter.</a:t>
            </a:r>
          </a:p>
          <a:p>
            <a:pPr>
              <a:spcAft>
                <a:spcPts val="700"/>
              </a:spcAft>
              <a:defRPr sz="1600" b="0">
                <a:solidFill>
                  <a:srgbClr val="817967"/>
                </a:solidFill>
                <a:latin typeface="Arial"/>
              </a:defRPr>
            </a:pPr>
            <a:r>
              <a:t>Welcome a new egg.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LIFE STAGES</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One character, three changing relationships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05</a:t>
            </a:r>
          </a:p>
        </p:txBody>
      </p:sp>
      <p:sp>
        <p:nvSpPr>
          <p:cNvPr id="8" name="Rounded Rectangle 7"/>
          <p:cNvSpPr/>
          <p:nvPr/>
        </p:nvSpPr>
        <p:spPr>
          <a:xfrm>
            <a:off x="640080"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child-happy.png"/>
          <p:cNvPicPr>
            <a:picLocks noChangeAspect="1"/>
          </p:cNvPicPr>
          <p:nvPr/>
        </p:nvPicPr>
        <p:blipFill>
          <a:blip r:embed="rId2"/>
          <a:stretch>
            <a:fillRect/>
          </a:stretch>
        </p:blipFill>
        <p:spPr>
          <a:xfrm>
            <a:off x="1371600" y="2257896"/>
            <a:ext cx="2011680" cy="1885007"/>
          </a:xfrm>
          <a:prstGeom prst="rect">
            <a:avLst/>
          </a:prstGeom>
        </p:spPr>
      </p:pic>
      <p:sp>
        <p:nvSpPr>
          <p:cNvPr id="10" name="TextBox 9"/>
          <p:cNvSpPr txBox="1"/>
          <p:nvPr/>
        </p:nvSpPr>
        <p:spPr>
          <a:xfrm>
            <a:off x="822959"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LITTLE ONE</a:t>
            </a:r>
          </a:p>
        </p:txBody>
      </p:sp>
      <p:sp>
        <p:nvSpPr>
          <p:cNvPr id="11" name="TextBox 10"/>
          <p:cNvSpPr txBox="1"/>
          <p:nvPr/>
        </p:nvSpPr>
        <p:spPr>
          <a:xfrm>
            <a:off x="886968"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Curious and dependent.</a:t>
            </a:r>
          </a:p>
          <a:p>
            <a:pPr algn="ctr">
              <a:spcAft>
                <a:spcPts val="700"/>
              </a:spcAft>
              <a:defRPr sz="1700" b="0">
                <a:solidFill>
                  <a:srgbClr val="504637"/>
                </a:solidFill>
                <a:latin typeface="Arial"/>
              </a:defRPr>
            </a:pPr>
            <a:r>
              <a:t>Immediate care feedback.</a:t>
            </a:r>
          </a:p>
        </p:txBody>
      </p:sp>
      <p:sp>
        <p:nvSpPr>
          <p:cNvPr id="12" name="Rounded Rectangle 11"/>
          <p:cNvSpPr/>
          <p:nvPr/>
        </p:nvSpPr>
        <p:spPr>
          <a:xfrm>
            <a:off x="4361688"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normal.png"/>
          <p:cNvPicPr>
            <a:picLocks noChangeAspect="1"/>
          </p:cNvPicPr>
          <p:nvPr/>
        </p:nvPicPr>
        <p:blipFill>
          <a:blip r:embed="rId3"/>
          <a:stretch>
            <a:fillRect/>
          </a:stretch>
        </p:blipFill>
        <p:spPr>
          <a:xfrm>
            <a:off x="5093208" y="2263001"/>
            <a:ext cx="2011680" cy="1874797"/>
          </a:xfrm>
          <a:prstGeom prst="rect">
            <a:avLst/>
          </a:prstGeom>
        </p:spPr>
      </p:pic>
      <p:sp>
        <p:nvSpPr>
          <p:cNvPr id="14" name="TextBox 13"/>
          <p:cNvSpPr txBox="1"/>
          <p:nvPr/>
        </p:nvSpPr>
        <p:spPr>
          <a:xfrm>
            <a:off x="4544568"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YOUTH</a:t>
            </a:r>
          </a:p>
        </p:txBody>
      </p:sp>
      <p:sp>
        <p:nvSpPr>
          <p:cNvPr id="15" name="TextBox 14"/>
          <p:cNvSpPr txBox="1"/>
          <p:nvPr/>
        </p:nvSpPr>
        <p:spPr>
          <a:xfrm>
            <a:off x="4608576"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Playful and independent.</a:t>
            </a:r>
          </a:p>
          <a:p>
            <a:pPr algn="ctr">
              <a:spcAft>
                <a:spcPts val="700"/>
              </a:spcAft>
              <a:defRPr sz="1700" b="0">
                <a:solidFill>
                  <a:srgbClr val="504637"/>
                </a:solidFill>
                <a:latin typeface="Arial"/>
              </a:defRPr>
            </a:pPr>
            <a:r>
              <a:t>May resist or get bored.</a:t>
            </a:r>
          </a:p>
        </p:txBody>
      </p:sp>
      <p:sp>
        <p:nvSpPr>
          <p:cNvPr id="16" name="Rounded Rectangle 15"/>
          <p:cNvSpPr/>
          <p:nvPr/>
        </p:nvSpPr>
        <p:spPr>
          <a:xfrm>
            <a:off x="8083296"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senior-normal.png"/>
          <p:cNvPicPr>
            <a:picLocks noChangeAspect="1"/>
          </p:cNvPicPr>
          <p:nvPr/>
        </p:nvPicPr>
        <p:blipFill>
          <a:blip r:embed="rId4"/>
          <a:stretch>
            <a:fillRect/>
          </a:stretch>
        </p:blipFill>
        <p:spPr>
          <a:xfrm>
            <a:off x="8814816" y="2337476"/>
            <a:ext cx="2011680" cy="1725847"/>
          </a:xfrm>
          <a:prstGeom prst="rect">
            <a:avLst/>
          </a:prstGeom>
        </p:spPr>
      </p:pic>
      <p:sp>
        <p:nvSpPr>
          <p:cNvPr id="18" name="TextBox 17"/>
          <p:cNvSpPr txBox="1"/>
          <p:nvPr/>
        </p:nvSpPr>
        <p:spPr>
          <a:xfrm>
            <a:off x="8266175"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SENIOR</a:t>
            </a:r>
          </a:p>
        </p:txBody>
      </p:sp>
      <p:sp>
        <p:nvSpPr>
          <p:cNvPr id="19" name="TextBox 18"/>
          <p:cNvSpPr txBox="1"/>
          <p:nvPr/>
        </p:nvSpPr>
        <p:spPr>
          <a:xfrm>
            <a:off x="8330183"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Slower, with rest breaks.</a:t>
            </a:r>
          </a:p>
          <a:p>
            <a:pPr algn="ctr">
              <a:spcAft>
                <a:spcPts val="700"/>
              </a:spcAft>
              <a:defRPr sz="1700" b="0">
                <a:solidFill>
                  <a:srgbClr val="504637"/>
                </a:solidFill>
                <a:latin typeface="Arial"/>
              </a:defRPr>
            </a:pPr>
            <a:r>
              <a:t>Asks for affection.</a:t>
            </a:r>
          </a:p>
        </p:txBody>
      </p:sp>
      <p:sp>
        <p:nvSpPr>
          <p:cNvPr id="20" name="TextBox 19"/>
          <p:cNvSpPr txBox="1"/>
          <p:nvPr/>
        </p:nvSpPr>
        <p:spPr>
          <a:xfrm>
            <a:off x="694944" y="6035040"/>
            <a:ext cx="10789920" cy="274320"/>
          </a:xfrm>
          <a:prstGeom prst="rect">
            <a:avLst/>
          </a:prstGeom>
          <a:noFill/>
        </p:spPr>
        <p:txBody>
          <a:bodyPr wrap="square" lIns="9144" rIns="9144" tIns="0" bIns="0">
            <a:spAutoFit/>
          </a:bodyPr>
          <a:lstStyle/>
          <a:p>
            <a:pPr>
              <a:spcAft>
                <a:spcPts val="700"/>
              </a:spcAft>
              <a:defRPr sz="1400" b="0">
                <a:solidFill>
                  <a:srgbClr val="817967"/>
                </a:solidFill>
                <a:latin typeface="Arial"/>
              </a:defRPr>
            </a:pPr>
            <a:r>
              <a:t>Growth follows useful care and the next waking — not a passive age timer.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RESPONSIVE PERSONALITY</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Care is a conversation, not a command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06</a:t>
            </a:r>
          </a:p>
        </p:txBody>
      </p:sp>
      <p:sp>
        <p:nvSpPr>
          <p:cNvPr id="8" name="Rounded Rectangle 7"/>
          <p:cNvSpPr/>
          <p:nvPr/>
        </p:nvSpPr>
        <p:spPr>
          <a:xfrm>
            <a:off x="640080"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youth-happy.png"/>
          <p:cNvPicPr>
            <a:picLocks noChangeAspect="1"/>
          </p:cNvPicPr>
          <p:nvPr/>
        </p:nvPicPr>
        <p:blipFill>
          <a:blip r:embed="rId2"/>
          <a:stretch>
            <a:fillRect/>
          </a:stretch>
        </p:blipFill>
        <p:spPr>
          <a:xfrm>
            <a:off x="1475831" y="2176272"/>
            <a:ext cx="1803216" cy="1691640"/>
          </a:xfrm>
          <a:prstGeom prst="rect">
            <a:avLst/>
          </a:prstGeom>
        </p:spPr>
      </p:pic>
      <p:sp>
        <p:nvSpPr>
          <p:cNvPr id="10" name="TextBox 9"/>
          <p:cNvSpPr txBox="1"/>
          <p:nvPr/>
        </p:nvSpPr>
        <p:spPr>
          <a:xfrm>
            <a:off x="822959"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Accepts</a:t>
            </a:r>
          </a:p>
        </p:txBody>
      </p:sp>
      <p:sp>
        <p:nvSpPr>
          <p:cNvPr id="11" name="TextBox 10"/>
          <p:cNvSpPr txBox="1"/>
          <p:nvPr/>
        </p:nvSpPr>
        <p:spPr>
          <a:xfrm>
            <a:off x="868680"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Happy feedback rewards</a:t>
            </a:r>
          </a:p>
          <a:p>
            <a:pPr algn="ctr">
              <a:spcAft>
                <a:spcPts val="700"/>
              </a:spcAft>
              <a:defRPr sz="1600" b="0">
                <a:solidFill>
                  <a:srgbClr val="504637"/>
                </a:solidFill>
                <a:latin typeface="Arial"/>
              </a:defRPr>
            </a:pPr>
            <a:r>
              <a:t>meaningful care.</a:t>
            </a:r>
          </a:p>
        </p:txBody>
      </p:sp>
      <p:sp>
        <p:nvSpPr>
          <p:cNvPr id="12" name="Rounded Rectangle 11"/>
          <p:cNvSpPr/>
          <p:nvPr/>
        </p:nvSpPr>
        <p:spPr>
          <a:xfrm>
            <a:off x="4361688"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unimpressed.png"/>
          <p:cNvPicPr>
            <a:picLocks noChangeAspect="1"/>
          </p:cNvPicPr>
          <p:nvPr/>
        </p:nvPicPr>
        <p:blipFill>
          <a:blip r:embed="rId3"/>
          <a:stretch>
            <a:fillRect/>
          </a:stretch>
        </p:blipFill>
        <p:spPr>
          <a:xfrm>
            <a:off x="5191772" y="2176272"/>
            <a:ext cx="1814550" cy="1691640"/>
          </a:xfrm>
          <a:prstGeom prst="rect">
            <a:avLst/>
          </a:prstGeom>
        </p:spPr>
      </p:pic>
      <p:sp>
        <p:nvSpPr>
          <p:cNvPr id="14" name="TextBox 13"/>
          <p:cNvSpPr txBox="1"/>
          <p:nvPr/>
        </p:nvSpPr>
        <p:spPr>
          <a:xfrm>
            <a:off x="4544568"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Gets bored</a:t>
            </a:r>
          </a:p>
        </p:txBody>
      </p:sp>
      <p:sp>
        <p:nvSpPr>
          <p:cNvPr id="15" name="TextBox 14"/>
          <p:cNvSpPr txBox="1"/>
          <p:nvPr/>
        </p:nvSpPr>
        <p:spPr>
          <a:xfrm>
            <a:off x="4590288"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Repetition or a full need</a:t>
            </a:r>
          </a:p>
          <a:p>
            <a:pPr algn="ctr">
              <a:spcAft>
                <a:spcPts val="700"/>
              </a:spcAft>
              <a:defRPr sz="1600" b="0">
                <a:solidFill>
                  <a:srgbClr val="504637"/>
                </a:solidFill>
                <a:latin typeface="Arial"/>
              </a:defRPr>
            </a:pPr>
            <a:r>
              <a:t>can lead to stillness.</a:t>
            </a:r>
          </a:p>
        </p:txBody>
      </p:sp>
      <p:sp>
        <p:nvSpPr>
          <p:cNvPr id="16" name="Rounded Rectangle 15"/>
          <p:cNvSpPr/>
          <p:nvPr/>
        </p:nvSpPr>
        <p:spPr>
          <a:xfrm>
            <a:off x="8083296"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youth-angry.png"/>
          <p:cNvPicPr>
            <a:picLocks noChangeAspect="1"/>
          </p:cNvPicPr>
          <p:nvPr/>
        </p:nvPicPr>
        <p:blipFill>
          <a:blip r:embed="rId4"/>
          <a:stretch>
            <a:fillRect/>
          </a:stretch>
        </p:blipFill>
        <p:spPr>
          <a:xfrm>
            <a:off x="8911763" y="2176272"/>
            <a:ext cx="1817785" cy="1691640"/>
          </a:xfrm>
          <a:prstGeom prst="rect">
            <a:avLst/>
          </a:prstGeom>
        </p:spPr>
      </p:pic>
      <p:sp>
        <p:nvSpPr>
          <p:cNvPr id="18" name="TextBox 17"/>
          <p:cNvSpPr txBox="1"/>
          <p:nvPr/>
        </p:nvSpPr>
        <p:spPr>
          <a:xfrm>
            <a:off x="8266175"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Refuses</a:t>
            </a:r>
          </a:p>
        </p:txBody>
      </p:sp>
      <p:sp>
        <p:nvSpPr>
          <p:cNvPr id="19" name="TextBox 18"/>
          <p:cNvSpPr txBox="1"/>
          <p:nvPr/>
        </p:nvSpPr>
        <p:spPr>
          <a:xfrm>
            <a:off x="8311896"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An angry dodge or kick</a:t>
            </a:r>
          </a:p>
          <a:p>
            <a:pPr algn="ctr">
              <a:spcAft>
                <a:spcPts val="700"/>
              </a:spcAft>
              <a:defRPr sz="1600" b="0">
                <a:solidFill>
                  <a:srgbClr val="504637"/>
                </a:solidFill>
                <a:latin typeface="Arial"/>
              </a:defRPr>
            </a:pPr>
            <a:r>
              <a:t>shows a clear boundary.</a:t>
            </a:r>
          </a:p>
        </p:txBody>
      </p:sp>
      <p:sp>
        <p:nvSpPr>
          <p:cNvPr id="20" name="Rounded Rectangle 19"/>
          <p:cNvSpPr/>
          <p:nvPr/>
        </p:nvSpPr>
        <p:spPr>
          <a:xfrm>
            <a:off x="676656" y="5742432"/>
            <a:ext cx="10835640" cy="438912"/>
          </a:xfrm>
          <a:prstGeom prst="roundRect">
            <a:avLst>
              <a:gd name="adj" fmla="val 15000"/>
            </a:avLst>
          </a:prstGeom>
          <a:solidFill>
            <a:srgbClr val="EEEA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5833872"/>
            <a:ext cx="10058400" cy="228600"/>
          </a:xfrm>
          <a:prstGeom prst="rect">
            <a:avLst/>
          </a:prstGeom>
          <a:noFill/>
        </p:spPr>
        <p:txBody>
          <a:bodyPr wrap="square" lIns="9144" rIns="9144" tIns="0" bIns="0">
            <a:spAutoFit/>
          </a:bodyPr>
          <a:lstStyle/>
          <a:p>
            <a:pPr>
              <a:spcAft>
                <a:spcPts val="700"/>
              </a:spcAft>
              <a:defRPr sz="1500" b="1">
                <a:solidFill>
                  <a:srgbClr val="728367"/>
                </a:solidFill>
                <a:latin typeface="Arial"/>
              </a:defRPr>
            </a:pPr>
            <a:r>
              <a:t>25% baseline refusal for Youth feeding, petting and 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VISIBLE CAUSE AND EFFECT</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Bring interaction into the room</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07</a:t>
            </a:r>
          </a:p>
        </p:txBody>
      </p:sp>
      <p:sp>
        <p:nvSpPr>
          <p:cNvPr id="8" name="Rounded Rectangle 7"/>
          <p:cNvSpPr/>
          <p:nvPr/>
        </p:nvSpPr>
        <p:spPr>
          <a:xfrm>
            <a:off x="612647" y="1801368"/>
            <a:ext cx="6455664" cy="4606544"/>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9-toy-kick.png"/>
          <p:cNvPicPr>
            <a:picLocks noChangeAspect="1"/>
          </p:cNvPicPr>
          <p:nvPr/>
        </p:nvPicPr>
        <p:blipFill>
          <a:blip r:embed="rId2"/>
          <a:stretch>
            <a:fillRect/>
          </a:stretch>
        </p:blipFill>
        <p:spPr>
          <a:xfrm>
            <a:off x="640080" y="1828800"/>
            <a:ext cx="6400800" cy="4551680"/>
          </a:xfrm>
          <a:prstGeom prst="rect">
            <a:avLst/>
          </a:prstGeom>
        </p:spPr>
      </p:pic>
      <p:sp>
        <p:nvSpPr>
          <p:cNvPr id="10" name="TextBox 9"/>
          <p:cNvSpPr txBox="1"/>
          <p:nvPr/>
        </p:nvSpPr>
        <p:spPr>
          <a:xfrm>
            <a:off x="7434072" y="1883664"/>
            <a:ext cx="3931920" cy="45720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A toy in the room</a:t>
            </a:r>
          </a:p>
        </p:txBody>
      </p:sp>
      <p:sp>
        <p:nvSpPr>
          <p:cNvPr id="11" name="TextBox 10"/>
          <p:cNvSpPr txBox="1"/>
          <p:nvPr/>
        </p:nvSpPr>
        <p:spPr>
          <a:xfrm>
            <a:off x="7452360" y="2587752"/>
            <a:ext cx="4023360" cy="822960"/>
          </a:xfrm>
          <a:prstGeom prst="rect">
            <a:avLst/>
          </a:prstGeom>
          <a:noFill/>
        </p:spPr>
        <p:txBody>
          <a:bodyPr wrap="square" lIns="9144" rIns="9144" tIns="0" bIns="0">
            <a:spAutoFit/>
          </a:bodyPr>
          <a:lstStyle/>
          <a:p>
            <a:pPr>
              <a:spcAft>
                <a:spcPts val="700"/>
              </a:spcAft>
              <a:defRPr sz="2000" b="0">
                <a:solidFill>
                  <a:srgbClr val="728367"/>
                </a:solidFill>
                <a:latin typeface="Arial"/>
              </a:defRPr>
            </a:pPr>
            <a:r>
              <a:t>Pick up → throw → chase → contact → kick</a:t>
            </a:r>
          </a:p>
        </p:txBody>
      </p:sp>
      <p:cxnSp>
        <p:nvCxnSpPr>
          <p:cNvPr id="12" name="Connector 11"/>
          <p:cNvCxnSpPr/>
          <p:nvPr/>
        </p:nvCxnSpPr>
        <p:spPr>
          <a:xfrm>
            <a:off x="7461504" y="3538728"/>
            <a:ext cx="395020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pic>
        <p:nvPicPr>
          <p:cNvPr id="13" name="Picture 12" descr="hungry-flat.png"/>
          <p:cNvPicPr>
            <a:picLocks noChangeAspect="1"/>
          </p:cNvPicPr>
          <p:nvPr/>
        </p:nvPicPr>
        <p:blipFill>
          <a:blip r:embed="rId3"/>
          <a:stretch>
            <a:fillRect/>
          </a:stretch>
        </p:blipFill>
        <p:spPr>
          <a:xfrm>
            <a:off x="7942120" y="3730752"/>
            <a:ext cx="2495198" cy="1554480"/>
          </a:xfrm>
          <a:prstGeom prst="rect">
            <a:avLst/>
          </a:prstGeom>
        </p:spPr>
      </p:pic>
      <p:sp>
        <p:nvSpPr>
          <p:cNvPr id="14" name="TextBox 13"/>
          <p:cNvSpPr txBox="1"/>
          <p:nvPr/>
        </p:nvSpPr>
        <p:spPr>
          <a:xfrm>
            <a:off x="7452360" y="5431536"/>
            <a:ext cx="3931920" cy="4114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Needs become visible</a:t>
            </a:r>
          </a:p>
        </p:txBody>
      </p:sp>
      <p:sp>
        <p:nvSpPr>
          <p:cNvPr id="15" name="TextBox 14"/>
          <p:cNvSpPr txBox="1"/>
          <p:nvPr/>
        </p:nvSpPr>
        <p:spPr>
          <a:xfrm>
            <a:off x="7461504" y="5870448"/>
            <a:ext cx="4023360" cy="45720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Low hunger flattens the body.</a:t>
            </a:r>
          </a:p>
          <a:p>
            <a:pPr>
              <a:spcAft>
                <a:spcPts val="700"/>
              </a:spcAft>
              <a:defRPr sz="1500" b="0">
                <a:solidFill>
                  <a:srgbClr val="817967"/>
                </a:solidFill>
                <a:latin typeface="Arial"/>
              </a:defRPr>
            </a:pPr>
            <a:r>
              <a:t>Unclean waste brings distress.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GAMEPLAY WALKTHROUGH</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life in two minutes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08</a:t>
            </a:r>
          </a:p>
        </p:txBody>
      </p:sp>
      <p:sp>
        <p:nvSpPr>
          <p:cNvPr id="8" name="TextBox 7"/>
          <p:cNvSpPr txBox="1"/>
          <p:nvPr/>
        </p:nvSpPr>
        <p:spPr>
          <a:xfrm>
            <a:off x="685800" y="1956816"/>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00:00–00:25</a:t>
            </a:r>
          </a:p>
        </p:txBody>
      </p:sp>
      <p:sp>
        <p:nvSpPr>
          <p:cNvPr id="9" name="TextBox 8"/>
          <p:cNvSpPr txBox="1"/>
          <p:nvPr/>
        </p:nvSpPr>
        <p:spPr>
          <a:xfrm>
            <a:off x="685800" y="2276856"/>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Egg, hatch &amp; naming</a:t>
            </a:r>
          </a:p>
        </p:txBody>
      </p:sp>
      <p:sp>
        <p:nvSpPr>
          <p:cNvPr id="10" name="TextBox 9"/>
          <p:cNvSpPr txBox="1"/>
          <p:nvPr/>
        </p:nvSpPr>
        <p:spPr>
          <a:xfrm>
            <a:off x="685800" y="2889504"/>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00:25–00:55</a:t>
            </a:r>
          </a:p>
        </p:txBody>
      </p:sp>
      <p:sp>
        <p:nvSpPr>
          <p:cNvPr id="11" name="TextBox 10"/>
          <p:cNvSpPr txBox="1"/>
          <p:nvPr/>
        </p:nvSpPr>
        <p:spPr>
          <a:xfrm>
            <a:off x="685800" y="3209544"/>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Care &amp; physical play</a:t>
            </a:r>
          </a:p>
        </p:txBody>
      </p:sp>
      <p:sp>
        <p:nvSpPr>
          <p:cNvPr id="12" name="TextBox 11"/>
          <p:cNvSpPr txBox="1"/>
          <p:nvPr/>
        </p:nvSpPr>
        <p:spPr>
          <a:xfrm>
            <a:off x="685800" y="3822191"/>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00:55–01:25</a:t>
            </a:r>
          </a:p>
        </p:txBody>
      </p:sp>
      <p:sp>
        <p:nvSpPr>
          <p:cNvPr id="13" name="TextBox 12"/>
          <p:cNvSpPr txBox="1"/>
          <p:nvPr/>
        </p:nvSpPr>
        <p:spPr>
          <a:xfrm>
            <a:off x="685800" y="4142232"/>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Youth personality</a:t>
            </a:r>
          </a:p>
        </p:txBody>
      </p:sp>
      <p:sp>
        <p:nvSpPr>
          <p:cNvPr id="14" name="TextBox 13"/>
          <p:cNvSpPr txBox="1"/>
          <p:nvPr/>
        </p:nvSpPr>
        <p:spPr>
          <a:xfrm>
            <a:off x="685800" y="4754880"/>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01:25–02:00</a:t>
            </a:r>
          </a:p>
        </p:txBody>
      </p:sp>
      <p:sp>
        <p:nvSpPr>
          <p:cNvPr id="15" name="TextBox 14"/>
          <p:cNvSpPr txBox="1"/>
          <p:nvPr/>
        </p:nvSpPr>
        <p:spPr>
          <a:xfrm>
            <a:off x="685800" y="5074920"/>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Senior &amp; farewell</a:t>
            </a:r>
          </a:p>
        </p:txBody>
      </p:sp>
      <p:sp>
        <p:nvSpPr>
          <p:cNvPr id="16" name="Rounded Rectangle 15"/>
          <p:cNvSpPr/>
          <p:nvPr/>
        </p:nvSpPr>
        <p:spPr>
          <a:xfrm>
            <a:off x="4636007" y="1801368"/>
            <a:ext cx="6135624" cy="4378960"/>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07-senior-affection.png"/>
          <p:cNvPicPr>
            <a:picLocks noChangeAspect="1"/>
          </p:cNvPicPr>
          <p:nvPr/>
        </p:nvPicPr>
        <p:blipFill>
          <a:blip r:embed="rId2"/>
          <a:stretch>
            <a:fillRect/>
          </a:stretch>
        </p:blipFill>
        <p:spPr>
          <a:xfrm>
            <a:off x="4663440" y="1828800"/>
            <a:ext cx="6080760" cy="4324096"/>
          </a:xfrm>
          <a:prstGeom prst="rect">
            <a:avLst/>
          </a:prstGeom>
        </p:spPr>
      </p:pic>
      <p:sp>
        <p:nvSpPr>
          <p:cNvPr id="18" name="TextBox 17">
            <a:hlinkClick r:id="rId3"/>
          </p:cNvPr>
          <p:cNvSpPr txBox="1"/>
          <p:nvPr/>
        </p:nvSpPr>
        <p:spPr>
          <a:xfrm>
            <a:off x="4663440" y="6217920"/>
            <a:ext cx="6400800" cy="201168"/>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Edited walkthrough • use cuts between stages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FAREWELL AND RENEWAL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Let the player choose when to say goodbye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09</a:t>
            </a:r>
          </a:p>
        </p:txBody>
      </p:sp>
      <p:sp>
        <p:nvSpPr>
          <p:cNvPr id="8" name="Rounded Rectangle 7"/>
          <p:cNvSpPr/>
          <p:nvPr/>
        </p:nvSpPr>
        <p:spPr>
          <a:xfrm>
            <a:off x="612647"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10-soul.png"/>
          <p:cNvPicPr>
            <a:picLocks noChangeAspect="1"/>
          </p:cNvPicPr>
          <p:nvPr/>
        </p:nvPicPr>
        <p:blipFill>
          <a:blip r:embed="rId2"/>
          <a:stretch>
            <a:fillRect/>
          </a:stretch>
        </p:blipFill>
        <p:spPr>
          <a:xfrm>
            <a:off x="640080" y="1892808"/>
            <a:ext cx="3474720" cy="2470911"/>
          </a:xfrm>
          <a:prstGeom prst="rect">
            <a:avLst/>
          </a:prstGeom>
        </p:spPr>
      </p:pic>
      <p:sp>
        <p:nvSpPr>
          <p:cNvPr id="10" name="TextBox 9"/>
          <p:cNvSpPr txBox="1"/>
          <p:nvPr/>
        </p:nvSpPr>
        <p:spPr>
          <a:xfrm>
            <a:off x="640080"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Letting go</a:t>
            </a:r>
          </a:p>
        </p:txBody>
      </p:sp>
      <p:sp>
        <p:nvSpPr>
          <p:cNvPr id="11" name="Rounded Rectangle 10"/>
          <p:cNvSpPr/>
          <p:nvPr/>
        </p:nvSpPr>
        <p:spPr>
          <a:xfrm>
            <a:off x="4334256"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11-envelope.png"/>
          <p:cNvPicPr>
            <a:picLocks noChangeAspect="1"/>
          </p:cNvPicPr>
          <p:nvPr/>
        </p:nvPicPr>
        <p:blipFill>
          <a:blip r:embed="rId3"/>
          <a:stretch>
            <a:fillRect/>
          </a:stretch>
        </p:blipFill>
        <p:spPr>
          <a:xfrm>
            <a:off x="4361688" y="1892808"/>
            <a:ext cx="3474720" cy="2470911"/>
          </a:xfrm>
          <a:prstGeom prst="rect">
            <a:avLst/>
          </a:prstGeom>
        </p:spPr>
      </p:pic>
      <p:sp>
        <p:nvSpPr>
          <p:cNvPr id="13" name="TextBox 12"/>
          <p:cNvSpPr txBox="1"/>
          <p:nvPr/>
        </p:nvSpPr>
        <p:spPr>
          <a:xfrm>
            <a:off x="4361688"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An invitation to remember</a:t>
            </a:r>
          </a:p>
        </p:txBody>
      </p:sp>
      <p:sp>
        <p:nvSpPr>
          <p:cNvPr id="14" name="Rounded Rectangle 13"/>
          <p:cNvSpPr/>
          <p:nvPr/>
        </p:nvSpPr>
        <p:spPr>
          <a:xfrm>
            <a:off x="8055864"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14-new-beginning.png"/>
          <p:cNvPicPr>
            <a:picLocks noChangeAspect="1"/>
          </p:cNvPicPr>
          <p:nvPr/>
        </p:nvPicPr>
        <p:blipFill>
          <a:blip r:embed="rId4"/>
          <a:stretch>
            <a:fillRect/>
          </a:stretch>
        </p:blipFill>
        <p:spPr>
          <a:xfrm>
            <a:off x="8083296" y="1892808"/>
            <a:ext cx="3474720" cy="2470911"/>
          </a:xfrm>
          <a:prstGeom prst="rect">
            <a:avLst/>
          </a:prstGeom>
        </p:spPr>
      </p:pic>
      <p:sp>
        <p:nvSpPr>
          <p:cNvPr id="16" name="TextBox 15"/>
          <p:cNvSpPr txBox="1"/>
          <p:nvPr/>
        </p:nvSpPr>
        <p:spPr>
          <a:xfrm>
            <a:off x="8083296"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A new beginning</a:t>
            </a:r>
          </a:p>
        </p:txBody>
      </p:sp>
      <p:sp>
        <p:nvSpPr>
          <p:cNvPr id="17" name="TextBox 16"/>
          <p:cNvSpPr txBox="1"/>
          <p:nvPr/>
        </p:nvSpPr>
        <p:spPr>
          <a:xfrm>
            <a:off x="713232" y="5422392"/>
            <a:ext cx="10789920" cy="566928"/>
          </a:xfrm>
          <a:prstGeom prst="rect">
            <a:avLst/>
          </a:prstGeom>
          <a:noFill/>
        </p:spPr>
        <p:txBody>
          <a:bodyPr wrap="square" lIns="9144" rIns="9144" tIns="0" bIns="0">
            <a:spAutoFit/>
          </a:bodyPr>
          <a:lstStyle/>
          <a:p>
            <a:pPr algn="ctr">
              <a:spcAft>
                <a:spcPts val="700"/>
              </a:spcAft>
              <a:defRPr sz="2800" b="0">
                <a:solidFill>
                  <a:srgbClr val="728367"/>
                </a:solidFill>
                <a:latin typeface="Georgia"/>
              </a:defRPr>
            </a:pPr>
            <a:r>
              <a:t>“I’m glad we met.”</a:t>
            </a:r>
          </a:p>
        </p:txBody>
      </p:sp>
      <p:sp>
        <p:nvSpPr>
          <p:cNvPr id="18" name="TextBox 17"/>
          <p:cNvSpPr txBox="1"/>
          <p:nvPr/>
        </p:nvSpPr>
        <p:spPr>
          <a:xfrm>
            <a:off x="685800" y="6089904"/>
            <a:ext cx="10972800" cy="228600"/>
          </a:xfrm>
          <a:prstGeom prst="rect">
            <a:avLst/>
          </a:prstGeom>
          <a:noFill/>
        </p:spPr>
        <p:txBody>
          <a:bodyPr wrap="square" lIns="9144" rIns="9144" tIns="0" bIns="0">
            <a:spAutoFit/>
          </a:bodyPr>
          <a:lstStyle/>
          <a:p>
            <a:pPr algn="ctr">
              <a:spcAft>
                <a:spcPts val="700"/>
              </a:spcAft>
              <a:defRPr sz="1300" b="0">
                <a:solidFill>
                  <a:srgbClr val="817967"/>
                </a:solidFill>
                <a:latin typeface="Arial"/>
              </a:defRPr>
            </a:pPr>
            <a:r>
              <a:t>The gratitude letter follows natural old age; neglect has a different ending.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IMPLEMENTATION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Build spatial movement with 2D tools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10</a:t>
            </a:r>
          </a:p>
        </p:txBody>
      </p:sp>
      <p:sp>
        <p:nvSpPr>
          <p:cNvPr id="8" name="Rounded Rectangle 7"/>
          <p:cNvSpPr/>
          <p:nvPr/>
        </p:nvSpPr>
        <p:spPr>
          <a:xfrm>
            <a:off x="640080" y="1965960"/>
            <a:ext cx="5157216" cy="41605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86968" y="2194560"/>
            <a:ext cx="4572000" cy="41148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Depth from 2D rules</a:t>
            </a:r>
          </a:p>
        </p:txBody>
      </p:sp>
      <p:sp>
        <p:nvSpPr>
          <p:cNvPr id="10" name="Oval 9"/>
          <p:cNvSpPr/>
          <p:nvPr/>
        </p:nvSpPr>
        <p:spPr>
          <a:xfrm>
            <a:off x="1920240" y="4828032"/>
            <a:ext cx="2103120" cy="210312"/>
          </a:xfrm>
          <a:prstGeom prst="ellipse">
            <a:avLst/>
          </a:prstGeom>
          <a:solidFill>
            <a:srgbClr val="DDD4C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youth-normal.png"/>
          <p:cNvPicPr>
            <a:picLocks noChangeAspect="1"/>
          </p:cNvPicPr>
          <p:nvPr/>
        </p:nvPicPr>
        <p:blipFill>
          <a:blip r:embed="rId2"/>
          <a:stretch>
            <a:fillRect/>
          </a:stretch>
        </p:blipFill>
        <p:spPr>
          <a:xfrm>
            <a:off x="2015167" y="2862072"/>
            <a:ext cx="1913265" cy="1783080"/>
          </a:xfrm>
          <a:prstGeom prst="rect">
            <a:avLst/>
          </a:prstGeom>
        </p:spPr>
      </p:pic>
      <p:cxnSp>
        <p:nvCxnSpPr>
          <p:cNvPr id="12" name="Connector 11"/>
          <p:cNvCxnSpPr/>
          <p:nvPr/>
        </p:nvCxnSpPr>
        <p:spPr>
          <a:xfrm>
            <a:off x="1371600" y="5257800"/>
            <a:ext cx="3520440" cy="0"/>
          </a:xfrm>
          <a:prstGeom prst="line">
            <a:avLst/>
          </a:prstGeom>
          <a:ln w="19050">
            <a:solidFill>
              <a:srgbClr val="728367"/>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1371600" y="5449824"/>
            <a:ext cx="3657600" cy="32004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ground position (x, y)</a:t>
            </a:r>
          </a:p>
        </p:txBody>
      </p:sp>
      <p:cxnSp>
        <p:nvCxnSpPr>
          <p:cNvPr id="14" name="Connector 13"/>
          <p:cNvCxnSpPr/>
          <p:nvPr/>
        </p:nvCxnSpPr>
        <p:spPr>
          <a:xfrm>
            <a:off x="4389120" y="3401568"/>
            <a:ext cx="0" cy="1408176"/>
          </a:xfrm>
          <a:prstGeom prst="line">
            <a:avLst/>
          </a:prstGeom>
          <a:ln w="19050">
            <a:solidFill>
              <a:srgbClr val="CCA35A"/>
            </a:solidFill>
          </a:ln>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572000" y="3694176"/>
            <a:ext cx="914400" cy="640080"/>
          </a:xfrm>
          <a:prstGeom prst="rect">
            <a:avLst/>
          </a:prstGeom>
          <a:noFill/>
        </p:spPr>
        <p:txBody>
          <a:bodyPr wrap="square" lIns="9144" rIns="9144" tIns="0" bIns="0">
            <a:spAutoFit/>
          </a:bodyPr>
          <a:lstStyle/>
          <a:p>
            <a:pPr>
              <a:spcAft>
                <a:spcPts val="700"/>
              </a:spcAft>
              <a:defRPr sz="1300" b="0">
                <a:solidFill>
                  <a:srgbClr val="817967"/>
                </a:solidFill>
                <a:latin typeface="Arial"/>
              </a:defRPr>
            </a:pPr>
            <a:r>
              <a:t>jump</a:t>
            </a:r>
          </a:p>
          <a:p>
            <a:pPr>
              <a:spcAft>
                <a:spcPts val="700"/>
              </a:spcAft>
              <a:defRPr sz="1300" b="0">
                <a:solidFill>
                  <a:srgbClr val="817967"/>
                </a:solidFill>
                <a:latin typeface="Arial"/>
              </a:defRPr>
            </a:pPr>
            <a:r>
              <a:t>height</a:t>
            </a:r>
          </a:p>
        </p:txBody>
      </p:sp>
      <p:sp>
        <p:nvSpPr>
          <p:cNvPr id="16" name="TextBox 15"/>
          <p:cNvSpPr txBox="1"/>
          <p:nvPr/>
        </p:nvSpPr>
        <p:spPr>
          <a:xfrm>
            <a:off x="896112" y="5870448"/>
            <a:ext cx="4663440" cy="22860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Scale by depth • sort by floor Y • anchor shadows</a:t>
            </a:r>
          </a:p>
        </p:txBody>
      </p:sp>
      <p:sp>
        <p:nvSpPr>
          <p:cNvPr id="17" name="TextBox 16"/>
          <p:cNvSpPr txBox="1"/>
          <p:nvPr/>
        </p:nvSpPr>
        <p:spPr>
          <a:xfrm>
            <a:off x="6355080" y="2011680"/>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State &amp; care</a:t>
            </a:r>
          </a:p>
        </p:txBody>
      </p:sp>
      <p:sp>
        <p:nvSpPr>
          <p:cNvPr id="18" name="TextBox 17"/>
          <p:cNvSpPr txBox="1"/>
          <p:nvPr/>
        </p:nvSpPr>
        <p:spPr>
          <a:xfrm>
            <a:off x="6355080" y="2395728"/>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sketch.js + stages.js</a:t>
            </a:r>
          </a:p>
        </p:txBody>
      </p:sp>
      <p:sp>
        <p:nvSpPr>
          <p:cNvPr id="19" name="TextBox 18"/>
          <p:cNvSpPr txBox="1"/>
          <p:nvPr/>
        </p:nvSpPr>
        <p:spPr>
          <a:xfrm>
            <a:off x="6355080" y="2999232"/>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Physical toy</a:t>
            </a:r>
          </a:p>
        </p:txBody>
      </p:sp>
      <p:sp>
        <p:nvSpPr>
          <p:cNvPr id="20" name="TextBox 19"/>
          <p:cNvSpPr txBox="1"/>
          <p:nvPr/>
        </p:nvSpPr>
        <p:spPr>
          <a:xfrm>
            <a:off x="6355080" y="3383280"/>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toy-ball.js + contact logic</a:t>
            </a:r>
          </a:p>
        </p:txBody>
      </p:sp>
      <p:sp>
        <p:nvSpPr>
          <p:cNvPr id="21" name="TextBox 20"/>
          <p:cNvSpPr txBox="1"/>
          <p:nvPr/>
        </p:nvSpPr>
        <p:spPr>
          <a:xfrm>
            <a:off x="6355080" y="3986784"/>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Arrival &amp; goodbye</a:t>
            </a:r>
          </a:p>
        </p:txBody>
      </p:sp>
      <p:sp>
        <p:nvSpPr>
          <p:cNvPr id="22" name="TextBox 21"/>
          <p:cNvSpPr txBox="1"/>
          <p:nvPr/>
        </p:nvSpPr>
        <p:spPr>
          <a:xfrm>
            <a:off x="6355080" y="4370832"/>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hatching.js + ending.js</a:t>
            </a:r>
          </a:p>
        </p:txBody>
      </p:sp>
      <p:sp>
        <p:nvSpPr>
          <p:cNvPr id="23" name="TextBox 22"/>
          <p:cNvSpPr txBox="1"/>
          <p:nvPr/>
        </p:nvSpPr>
        <p:spPr>
          <a:xfrm>
            <a:off x="6355080" y="4974336"/>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Window fit &amp; full screen</a:t>
            </a:r>
          </a:p>
        </p:txBody>
      </p:sp>
      <p:sp>
        <p:nvSpPr>
          <p:cNvPr id="24" name="TextBox 23"/>
          <p:cNvSpPr txBox="1"/>
          <p:nvPr/>
        </p:nvSpPr>
        <p:spPr>
          <a:xfrm>
            <a:off x="6355080" y="5358384"/>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style.css + viewport.js</a:t>
            </a:r>
          </a:p>
        </p:txBody>
      </p:sp>
      <p:sp>
        <p:nvSpPr>
          <p:cNvPr id="25" name="TextBox 24"/>
          <p:cNvSpPr txBox="1"/>
          <p:nvPr/>
        </p:nvSpPr>
        <p:spPr>
          <a:xfrm>
            <a:off x="6355080" y="6089904"/>
            <a:ext cx="5029200" cy="219456"/>
          </a:xfrm>
          <a:prstGeom prst="rect">
            <a:avLst/>
          </a:prstGeom>
          <a:noFill/>
        </p:spPr>
        <p:txBody>
          <a:bodyPr wrap="square" lIns="9144" rIns="9144" tIns="0" bIns="0">
            <a:spAutoFit/>
          </a:bodyPr>
          <a:lstStyle/>
          <a:p>
            <a:pPr>
              <a:spcAft>
                <a:spcPts val="700"/>
              </a:spcAft>
              <a:defRPr sz="1100" b="0">
                <a:solidFill>
                  <a:srgbClr val="728367"/>
                </a:solidFill>
                <a:latin typeface="Arial"/>
              </a:defRPr>
            </a:pPr>
            <a:r>
              <a:t>900 × 640 internal coordinates • aspect ratio preserved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ITERATION AND REFLECTION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Make each reaction feel intentional</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11</a:t>
            </a:r>
          </a:p>
        </p:txBody>
      </p:sp>
      <p:sp>
        <p:nvSpPr>
          <p:cNvPr id="8" name="TextBox 7"/>
          <p:cNvSpPr txBox="1"/>
          <p:nvPr/>
        </p:nvSpPr>
        <p:spPr>
          <a:xfrm>
            <a:off x="685800" y="1984248"/>
            <a:ext cx="5212080" cy="457200"/>
          </a:xfrm>
          <a:prstGeom prst="rect">
            <a:avLst/>
          </a:prstGeom>
          <a:noFill/>
        </p:spPr>
        <p:txBody>
          <a:bodyPr wrap="square" lIns="9144" rIns="9144" tIns="0" bIns="0">
            <a:spAutoFit/>
          </a:bodyPr>
          <a:lstStyle/>
          <a:p>
            <a:pPr>
              <a:spcAft>
                <a:spcPts val="700"/>
              </a:spcAft>
              <a:defRPr sz="2500" b="0">
                <a:solidFill>
                  <a:srgbClr val="504637"/>
                </a:solidFill>
                <a:latin typeface="Georgia"/>
              </a:defRPr>
            </a:pPr>
            <a:r>
              <a:t>What changed</a:t>
            </a:r>
          </a:p>
        </p:txBody>
      </p:sp>
      <p:sp>
        <p:nvSpPr>
          <p:cNvPr id="9" name="TextBox 8"/>
          <p:cNvSpPr txBox="1"/>
          <p:nvPr/>
        </p:nvSpPr>
        <p:spPr>
          <a:xfrm>
            <a:off x="704088" y="2724912"/>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Toy play</a:t>
            </a:r>
          </a:p>
        </p:txBody>
      </p:sp>
      <p:sp>
        <p:nvSpPr>
          <p:cNvPr id="10" name="TextBox 9"/>
          <p:cNvSpPr txBox="1"/>
          <p:nvPr/>
        </p:nvSpPr>
        <p:spPr>
          <a:xfrm>
            <a:off x="704088" y="3063240"/>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Remote-looking pursuit → visible contact kick</a:t>
            </a:r>
          </a:p>
        </p:txBody>
      </p:sp>
      <p:sp>
        <p:nvSpPr>
          <p:cNvPr id="11" name="TextBox 10"/>
          <p:cNvSpPr txBox="1"/>
          <p:nvPr/>
        </p:nvSpPr>
        <p:spPr>
          <a:xfrm>
            <a:off x="704088" y="3621024"/>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Movement &amp; rest</a:t>
            </a:r>
          </a:p>
        </p:txBody>
      </p:sp>
      <p:sp>
        <p:nvSpPr>
          <p:cNvPr id="12" name="TextBox 11"/>
          <p:cNvSpPr txBox="1"/>
          <p:nvPr/>
        </p:nvSpPr>
        <p:spPr>
          <a:xfrm>
            <a:off x="704088" y="3959352"/>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Short senior hops + a visible sleep process</a:t>
            </a:r>
          </a:p>
        </p:txBody>
      </p:sp>
      <p:sp>
        <p:nvSpPr>
          <p:cNvPr id="13" name="TextBox 12"/>
          <p:cNvSpPr txBox="1"/>
          <p:nvPr/>
        </p:nvSpPr>
        <p:spPr>
          <a:xfrm>
            <a:off x="704088" y="4517136"/>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Interface &amp; display</a:t>
            </a:r>
          </a:p>
        </p:txBody>
      </p:sp>
      <p:sp>
        <p:nvSpPr>
          <p:cNvPr id="14" name="TextBox 13"/>
          <p:cNvSpPr txBox="1"/>
          <p:nvPr/>
        </p:nvSpPr>
        <p:spPr>
          <a:xfrm>
            <a:off x="704088" y="4855464"/>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Cream controls + window fit + full screen</a:t>
            </a:r>
          </a:p>
        </p:txBody>
      </p:sp>
      <p:sp>
        <p:nvSpPr>
          <p:cNvPr id="15" name="Rounded Rectangle 14"/>
          <p:cNvSpPr/>
          <p:nvPr/>
        </p:nvSpPr>
        <p:spPr>
          <a:xfrm>
            <a:off x="6455664" y="1993392"/>
            <a:ext cx="5056632" cy="4041648"/>
          </a:xfrm>
          <a:prstGeom prst="roundRect">
            <a:avLst>
              <a:gd name="adj" fmla="val 15000"/>
            </a:avLst>
          </a:prstGeom>
          <a:solidFill>
            <a:srgbClr val="EEEEDC"/>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720840" y="2267712"/>
            <a:ext cx="4480560" cy="731520"/>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What still needs testing</a:t>
            </a:r>
          </a:p>
        </p:txBody>
      </p:sp>
      <p:sp>
        <p:nvSpPr>
          <p:cNvPr id="17" name="TextBox 16"/>
          <p:cNvSpPr txBox="1"/>
          <p:nvPr/>
        </p:nvSpPr>
        <p:spPr>
          <a:xfrm>
            <a:off x="6729984" y="3200400"/>
            <a:ext cx="4434840" cy="1508760"/>
          </a:xfrm>
          <a:prstGeom prst="rect">
            <a:avLst/>
          </a:prstGeom>
          <a:noFill/>
        </p:spPr>
        <p:txBody>
          <a:bodyPr wrap="square" lIns="9144" rIns="9144" tIns="0" bIns="0">
            <a:spAutoFit/>
          </a:bodyPr>
          <a:lstStyle/>
          <a:p>
            <a:pPr>
              <a:spcAft>
                <a:spcPts val="700"/>
              </a:spcAft>
              <a:defRPr sz="2000" b="0">
                <a:solidFill>
                  <a:srgbClr val="504637"/>
                </a:solidFill>
                <a:latin typeface="Arial"/>
              </a:defRPr>
            </a:pPr>
            <a:r>
              <a:t>Do people discover dragging?</a:t>
            </a:r>
          </a:p>
          <a:p>
            <a:pPr>
              <a:spcAft>
                <a:spcPts val="700"/>
              </a:spcAft>
              <a:defRPr sz="2000" b="0">
                <a:solidFill>
                  <a:srgbClr val="504637"/>
                </a:solidFill>
                <a:latin typeface="Arial"/>
              </a:defRPr>
            </a:pPr>
            <a:r>
              <a:t>Can they understand a refusal?</a:t>
            </a:r>
          </a:p>
          <a:p>
            <a:pPr>
              <a:spcAft>
                <a:spcPts val="700"/>
              </a:spcAft>
              <a:defRPr sz="2000" b="0">
                <a:solidFill>
                  <a:srgbClr val="504637"/>
                </a:solidFill>
                <a:latin typeface="Arial"/>
              </a:defRPr>
            </a:pPr>
            <a:r>
              <a:t>Does the goodbye arrive too soon?</a:t>
            </a:r>
          </a:p>
        </p:txBody>
      </p:sp>
      <p:sp>
        <p:nvSpPr>
          <p:cNvPr id="18" name="TextBox 17"/>
          <p:cNvSpPr txBox="1"/>
          <p:nvPr/>
        </p:nvSpPr>
        <p:spPr>
          <a:xfrm>
            <a:off x="6729984" y="5084064"/>
            <a:ext cx="4434840" cy="713232"/>
          </a:xfrm>
          <a:prstGeom prst="rect">
            <a:avLst/>
          </a:prstGeom>
          <a:noFill/>
        </p:spPr>
        <p:txBody>
          <a:bodyPr wrap="square" lIns="9144" rIns="9144" tIns="0" bIns="0">
            <a:spAutoFit/>
          </a:bodyPr>
          <a:lstStyle/>
          <a:p>
            <a:pPr>
              <a:spcAft>
                <a:spcPts val="700"/>
              </a:spcAft>
              <a:defRPr sz="1700" b="0">
                <a:solidFill>
                  <a:srgbClr val="728367"/>
                </a:solidFill>
                <a:latin typeface="Arial"/>
              </a:defRPr>
            </a:pPr>
            <a:r>
              <a:t>Next: audience testing, pacing,</a:t>
            </a:r>
          </a:p>
          <a:p>
            <a:pPr>
              <a:spcAft>
                <a:spcPts val="700"/>
              </a:spcAft>
              <a:defRPr sz="1700" b="0">
                <a:solidFill>
                  <a:srgbClr val="728367"/>
                </a:solidFill>
                <a:latin typeface="Arial"/>
              </a:defRPr>
            </a:pPr>
            <a:r>
              <a:t>saved progress and accessibility.</a:t>
            </a:r>
          </a:p>
        </p:txBody>
      </p:sp>
      <p:sp>
        <p:nvSpPr>
          <p:cNvPr id="19" name="TextBox 18"/>
          <p:cNvSpPr txBox="1"/>
          <p:nvPr/>
        </p:nvSpPr>
        <p:spPr>
          <a:xfrm>
            <a:off x="694944" y="6153912"/>
            <a:ext cx="10881360" cy="210312"/>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Current evidence: iterative playthroughs and automated browser checks; no formal audience study claimed.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LITTLE RASCAL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relationship built from small interactions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12</a:t>
            </a:r>
          </a:p>
        </p:txBody>
      </p:sp>
      <p:sp>
        <p:nvSpPr>
          <p:cNvPr id="8" name="TextBox 7"/>
          <p:cNvSpPr txBox="1"/>
          <p:nvPr/>
        </p:nvSpPr>
        <p:spPr>
          <a:xfrm>
            <a:off x="704088" y="1883664"/>
            <a:ext cx="6858000" cy="1463040"/>
          </a:xfrm>
          <a:prstGeom prst="rect">
            <a:avLst/>
          </a:prstGeom>
          <a:noFill/>
        </p:spPr>
        <p:txBody>
          <a:bodyPr wrap="square" lIns="9144" rIns="9144" tIns="0" bIns="0">
            <a:spAutoFit/>
          </a:bodyPr>
          <a:lstStyle/>
          <a:p>
            <a:pPr>
              <a:spcAft>
                <a:spcPts val="700"/>
              </a:spcAft>
              <a:defRPr sz="3500" b="0">
                <a:solidFill>
                  <a:srgbClr val="504637"/>
                </a:solidFill>
                <a:latin typeface="Georgia"/>
              </a:defRPr>
            </a:pPr>
            <a:r>
              <a:t>A small character.</a:t>
            </a:r>
          </a:p>
          <a:p>
            <a:pPr>
              <a:spcAft>
                <a:spcPts val="700"/>
              </a:spcAft>
              <a:defRPr sz="3500" b="0">
                <a:solidFill>
                  <a:srgbClr val="504637"/>
                </a:solidFill>
                <a:latin typeface="Georgia"/>
              </a:defRPr>
            </a:pPr>
            <a:r>
              <a:t>A changing relationship.</a:t>
            </a:r>
          </a:p>
        </p:txBody>
      </p:sp>
      <p:sp>
        <p:nvSpPr>
          <p:cNvPr id="9" name="TextBox 8"/>
          <p:cNvSpPr txBox="1"/>
          <p:nvPr/>
        </p:nvSpPr>
        <p:spPr>
          <a:xfrm>
            <a:off x="722376" y="3703320"/>
            <a:ext cx="7132320" cy="868680"/>
          </a:xfrm>
          <a:prstGeom prst="rect">
            <a:avLst/>
          </a:prstGeom>
          <a:noFill/>
        </p:spPr>
        <p:txBody>
          <a:bodyPr wrap="square" lIns="9144" rIns="9144" tIns="0" bIns="0">
            <a:spAutoFit/>
          </a:bodyPr>
          <a:lstStyle/>
          <a:p>
            <a:pPr>
              <a:spcAft>
                <a:spcPts val="700"/>
              </a:spcAft>
              <a:defRPr sz="2300" b="0">
                <a:solidFill>
                  <a:srgbClr val="728367"/>
                </a:solidFill>
                <a:latin typeface="Arial"/>
              </a:defRPr>
            </a:pPr>
            <a:r>
              <a:t>Curiosity → care → attachment → goodbye → renewal</a:t>
            </a:r>
          </a:p>
        </p:txBody>
      </p:sp>
      <p:pic>
        <p:nvPicPr>
          <p:cNvPr id="10" name="Picture 9" descr="soul.png"/>
          <p:cNvPicPr>
            <a:picLocks noChangeAspect="1"/>
          </p:cNvPicPr>
          <p:nvPr/>
        </p:nvPicPr>
        <p:blipFill>
          <a:blip r:embed="rId2"/>
          <a:stretch>
            <a:fillRect/>
          </a:stretch>
        </p:blipFill>
        <p:spPr>
          <a:xfrm>
            <a:off x="8339327" y="2015005"/>
            <a:ext cx="2468880" cy="2032461"/>
          </a:xfrm>
          <a:prstGeom prst="rect">
            <a:avLst/>
          </a:prstGeom>
        </p:spPr>
      </p:pic>
      <p:pic>
        <p:nvPicPr>
          <p:cNvPr id="11" name="Picture 10" descr="egg.png"/>
          <p:cNvPicPr>
            <a:picLocks noChangeAspect="1"/>
          </p:cNvPicPr>
          <p:nvPr/>
        </p:nvPicPr>
        <p:blipFill>
          <a:blip r:embed="rId3"/>
          <a:stretch>
            <a:fillRect/>
          </a:stretch>
        </p:blipFill>
        <p:spPr>
          <a:xfrm>
            <a:off x="9116568" y="4405275"/>
            <a:ext cx="969264" cy="1156409"/>
          </a:xfrm>
          <a:prstGeom prst="rect">
            <a:avLst/>
          </a:prstGeom>
        </p:spPr>
      </p:pic>
      <p:sp>
        <p:nvSpPr>
          <p:cNvPr id="12" name="TextBox 11">
            <a:hlinkClick r:id="rId4"/>
          </p:cNvPr>
          <p:cNvSpPr txBox="1"/>
          <p:nvPr/>
        </p:nvSpPr>
        <p:spPr>
          <a:xfrm>
            <a:off x="731520" y="5248656"/>
            <a:ext cx="6126480" cy="502920"/>
          </a:xfrm>
          <a:prstGeom prst="rect">
            <a:avLst/>
          </a:prstGeom>
          <a:noFill/>
        </p:spPr>
        <p:txBody>
          <a:bodyPr wrap="square" lIns="9144" rIns="9144" tIns="0" bIns="0">
            <a:spAutoFit/>
          </a:bodyPr>
          <a:lstStyle/>
          <a:p>
            <a:pPr>
              <a:spcAft>
                <a:spcPts val="700"/>
              </a:spcAft>
              <a:defRPr sz="2000" b="1">
                <a:solidFill>
                  <a:srgbClr val="CCA35A"/>
                </a:solidFill>
                <a:latin typeface="Arial"/>
              </a:defRPr>
            </a:pPr>
            <a:r>
              <a:t>PLAY LITTLE RASCAL  ↗</a:t>
            </a:r>
          </a:p>
        </p:txBody>
      </p:sp>
      <p:sp>
        <p:nvSpPr>
          <p:cNvPr id="13" name="TextBox 12"/>
          <p:cNvSpPr txBox="1"/>
          <p:nvPr/>
        </p:nvSpPr>
        <p:spPr>
          <a:xfrm>
            <a:off x="731520" y="5833872"/>
            <a:ext cx="7040880" cy="320040"/>
          </a:xfrm>
          <a:prstGeom prst="rect">
            <a:avLst/>
          </a:prstGeom>
          <a:noFill/>
        </p:spPr>
        <p:txBody>
          <a:bodyPr wrap="square" lIns="9144" rIns="9144" tIns="0" bIns="0">
            <a:spAutoFit/>
          </a:bodyPr>
          <a:lstStyle/>
          <a:p>
            <a:pPr>
              <a:spcAft>
                <a:spcPts val="700"/>
              </a:spcAft>
              <a:defRPr sz="1700" b="0">
                <a:solidFill>
                  <a:srgbClr val="817967"/>
                </a:solidFill>
                <a:latin typeface="Arial"/>
              </a:defRPr>
            </a:pPr>
            <a:r>
              <a:t>itsangelia.github.io/little-rascal/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APPENDIX · NOT NORMALLY SPOKEN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References and production credits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13</a:t>
            </a:r>
          </a:p>
        </p:txBody>
      </p:sp>
      <p:sp>
        <p:nvSpPr>
          <p:cNvPr id="8" name="TextBox 7"/>
          <p:cNvSpPr txBox="1"/>
          <p:nvPr/>
        </p:nvSpPr>
        <p:spPr>
          <a:xfrm>
            <a:off x="685800" y="1810512"/>
            <a:ext cx="10789920" cy="45720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References &amp; process transparency</a:t>
            </a:r>
          </a:p>
        </p:txBody>
      </p:sp>
      <p:sp>
        <p:nvSpPr>
          <p:cNvPr id="9" name="TextBox 8"/>
          <p:cNvSpPr txBox="1"/>
          <p:nvPr/>
        </p:nvSpPr>
        <p:spPr>
          <a:xfrm>
            <a:off x="704088" y="2468880"/>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DESIGN FRAMEWORK</a:t>
            </a:r>
          </a:p>
        </p:txBody>
      </p:sp>
      <p:sp>
        <p:nvSpPr>
          <p:cNvPr id="10" name="TextBox 9"/>
          <p:cNvSpPr txBox="1"/>
          <p:nvPr/>
        </p:nvSpPr>
        <p:spPr>
          <a:xfrm>
            <a:off x="2788920" y="2468880"/>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Norman, D. A. (2004). Emotional Design: Why We Love (or Hate) Everyday Things. Basic Books.</a:t>
            </a:r>
          </a:p>
        </p:txBody>
      </p:sp>
      <p:sp>
        <p:nvSpPr>
          <p:cNvPr id="11" name="TextBox 10"/>
          <p:cNvSpPr txBox="1"/>
          <p:nvPr/>
        </p:nvSpPr>
        <p:spPr>
          <a:xfrm>
            <a:off x="704088" y="3273552"/>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IMPLEMENTATION</a:t>
            </a:r>
          </a:p>
        </p:txBody>
      </p:sp>
      <p:sp>
        <p:nvSpPr>
          <p:cNvPr id="12" name="TextBox 11"/>
          <p:cNvSpPr txBox="1"/>
          <p:nvPr/>
        </p:nvSpPr>
        <p:spPr>
          <a:xfrm>
            <a:off x="2788920" y="3273552"/>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p5.js documentation — https://p5js.org/reference/</a:t>
            </a:r>
          </a:p>
          <a:p>
            <a:pPr>
              <a:spcAft>
                <a:spcPts val="700"/>
              </a:spcAft>
              <a:defRPr sz="1300" b="0">
                <a:solidFill>
                  <a:srgbClr val="504637"/>
                </a:solidFill>
                <a:latin typeface="Arial"/>
              </a:defRPr>
            </a:pPr>
            <a:r>
              <a:t>Little Rascal source — https://github.com/itsangelia/little-rascal</a:t>
            </a:r>
          </a:p>
        </p:txBody>
      </p:sp>
      <p:sp>
        <p:nvSpPr>
          <p:cNvPr id="13" name="TextBox 12"/>
          <p:cNvSpPr txBox="1"/>
          <p:nvPr/>
        </p:nvSpPr>
        <p:spPr>
          <a:xfrm>
            <a:off x="704088" y="4078224"/>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REFERENCE &amp; ASSETS</a:t>
            </a:r>
          </a:p>
        </p:txBody>
      </p:sp>
      <p:sp>
        <p:nvSpPr>
          <p:cNvPr id="14" name="TextBox 13"/>
          <p:cNvSpPr txBox="1"/>
          <p:nvPr/>
        </p:nvSpPr>
        <p:spPr>
          <a:xfrm>
            <a:off x="2788920" y="4078224"/>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My Lil’ Bastard: supplied gameplay reference. Uploaded illustrations and iterated generated assets inform the final visual direction.</a:t>
            </a:r>
          </a:p>
        </p:txBody>
      </p:sp>
      <p:sp>
        <p:nvSpPr>
          <p:cNvPr id="15" name="TextBox 14"/>
          <p:cNvSpPr txBox="1"/>
          <p:nvPr/>
        </p:nvSpPr>
        <p:spPr>
          <a:xfrm>
            <a:off x="704088" y="4882896"/>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AI &amp; AUDIO</a:t>
            </a:r>
          </a:p>
        </p:txBody>
      </p:sp>
      <p:sp>
        <p:nvSpPr>
          <p:cNvPr id="16" name="TextBox 15"/>
          <p:cNvSpPr txBox="1"/>
          <p:nvPr/>
        </p:nvSpPr>
        <p:spPr>
          <a:xfrm>
            <a:off x="2788920" y="4882896"/>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OpenAI assistance: coding/debugging and image exploration. Final disclosure should follow course policy. Music: bgm.mp3 — original source and credit need confirmation.</a:t>
            </a:r>
          </a:p>
        </p:txBody>
      </p:sp>
      <p:sp>
        <p:nvSpPr>
          <p:cNvPr id="17" name="TextBox 16"/>
          <p:cNvSpPr txBox="1"/>
          <p:nvPr/>
        </p:nvSpPr>
        <p:spPr>
          <a:xfrm>
            <a:off x="704088" y="6062472"/>
            <a:ext cx="10789920" cy="27432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Appendix • do not read aloud. Add your own exhibition evidence and personal reflection before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Little Rascal — Emotional Interactions</dc:title>
  <dc:subject>A virtual pet experience in p5.js</dc:subject>
  <dc:creator>Little Rascal</dc:creator>
  <cp:keywords>virtual pet, emotional design, p5.js, university project</cp:keywords>
  <dc:description>generated using python-pptx</dc:description>
  <cp:lastModifiedBy>Little Rascal</cp:lastModifiedBy>
  <cp:revision>1</cp:revision>
  <dcterms:created xsi:type="dcterms:W3CDTF">2013-01-27T09:14:16Z</dcterms:created>
  <dcterms:modified xsi:type="dcterms:W3CDTF">2013-01-27T09:15:58Z</dcterms:modified>
  <cp:category/>
</cp:coreProperties>
</file>